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jpeg"/>
  <Default Extension="emf" ContentType="image/x-emf"/>
  <Default Extension="rels" ContentType="application/vnd.openxmlformats-package.relationships+xml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59" r:id="rId5"/>
    <p:sldId id="287" r:id="rId6"/>
    <p:sldId id="282" r:id="rId7"/>
    <p:sldId id="283" r:id="rId8"/>
    <p:sldId id="261" r:id="rId9"/>
    <p:sldId id="262" r:id="rId10"/>
    <p:sldId id="263" r:id="rId11"/>
    <p:sldId id="286" r:id="rId12"/>
    <p:sldId id="284" r:id="rId13"/>
    <p:sldId id="260" r:id="rId14"/>
    <p:sldId id="266" r:id="rId15"/>
    <p:sldId id="267" r:id="rId16"/>
    <p:sldId id="269" r:id="rId17"/>
    <p:sldId id="285" r:id="rId18"/>
    <p:sldId id="270" r:id="rId19"/>
    <p:sldId id="271" r:id="rId20"/>
    <p:sldId id="272" r:id="rId21"/>
    <p:sldId id="280" r:id="rId22"/>
    <p:sldId id="273" r:id="rId23"/>
    <p:sldId id="275" r:id="rId24"/>
    <p:sldId id="277" r:id="rId25"/>
    <p:sldId id="278" r:id="rId26"/>
    <p:sldId id="279" r:id="rId27"/>
    <p:sldId id="274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-536" y="-11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printerSettings" Target="printerSettings/printerSettings1.bin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EC286-6C24-49EE-B970-58ACE951AE35}" type="datetimeFigureOut">
              <a:rPr lang="ro-RO" smtClean="0"/>
              <a:t>4/29/20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D68DC-A1B8-4DDF-8285-4C03F8028159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398731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EC286-6C24-49EE-B970-58ACE951AE35}" type="datetimeFigureOut">
              <a:rPr lang="ro-RO" smtClean="0"/>
              <a:t>4/29/20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D68DC-A1B8-4DDF-8285-4C03F8028159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554591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EC286-6C24-49EE-B970-58ACE951AE35}" type="datetimeFigureOut">
              <a:rPr lang="ro-RO" smtClean="0"/>
              <a:t>4/29/20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D68DC-A1B8-4DDF-8285-4C03F8028159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005935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EC286-6C24-49EE-B970-58ACE951AE35}" type="datetimeFigureOut">
              <a:rPr lang="ro-RO" smtClean="0"/>
              <a:t>4/29/20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D68DC-A1B8-4DDF-8285-4C03F8028159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437870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EC286-6C24-49EE-B970-58ACE951AE35}" type="datetimeFigureOut">
              <a:rPr lang="ro-RO" smtClean="0"/>
              <a:t>4/29/20</a:t>
            </a:fld>
            <a:endParaRPr lang="ro-R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D68DC-A1B8-4DDF-8285-4C03F8028159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934377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EC286-6C24-49EE-B970-58ACE951AE35}" type="datetimeFigureOut">
              <a:rPr lang="ro-RO" smtClean="0"/>
              <a:t>4/29/20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D68DC-A1B8-4DDF-8285-4C03F8028159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001610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EC286-6C24-49EE-B970-58ACE951AE35}" type="datetimeFigureOut">
              <a:rPr lang="ro-RO" smtClean="0"/>
              <a:t>4/29/20</a:t>
            </a:fld>
            <a:endParaRPr lang="ro-R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D68DC-A1B8-4DDF-8285-4C03F8028159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638802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EC286-6C24-49EE-B970-58ACE951AE35}" type="datetimeFigureOut">
              <a:rPr lang="ro-RO" smtClean="0"/>
              <a:t>4/29/20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D68DC-A1B8-4DDF-8285-4C03F8028159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428185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EC286-6C24-49EE-B970-58ACE951AE35}" type="datetimeFigureOut">
              <a:rPr lang="ro-RO" smtClean="0"/>
              <a:t>4/29/20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D68DC-A1B8-4DDF-8285-4C03F8028159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562944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EC286-6C24-49EE-B970-58ACE951AE35}" type="datetimeFigureOut">
              <a:rPr lang="ro-RO" smtClean="0"/>
              <a:t>4/29/20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D68DC-A1B8-4DDF-8285-4C03F8028159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931730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EC286-6C24-49EE-B970-58ACE951AE35}" type="datetimeFigureOut">
              <a:rPr lang="ro-RO" smtClean="0"/>
              <a:t>4/29/20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D68DC-A1B8-4DDF-8285-4C03F8028159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629659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6EC286-6C24-49EE-B970-58ACE951AE35}" type="datetimeFigureOut">
              <a:rPr lang="ro-RO" smtClean="0"/>
              <a:t>4/29/20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4D68DC-A1B8-4DDF-8285-4C03F8028159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132208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e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eg"/><Relationship Id="rId3" Type="http://schemas.openxmlformats.org/officeDocument/2006/relationships/image" Target="../media/image15.jpe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e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jpe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jpe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jpeg"/><Relationship Id="rId3" Type="http://schemas.openxmlformats.org/officeDocument/2006/relationships/image" Target="../media/image21.jpe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jpe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jpe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887ADB74-86A6-4426-A957-EF0F0EC45B68}"/>
              </a:ext>
            </a:extLst>
          </p:cNvPr>
          <p:cNvSpPr txBox="1"/>
          <p:nvPr/>
        </p:nvSpPr>
        <p:spPr>
          <a:xfrm>
            <a:off x="3208764" y="4155792"/>
            <a:ext cx="274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24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Aprilie 2020</a:t>
            </a:r>
          </a:p>
        </p:txBody>
      </p:sp>
    </p:spTree>
    <p:extLst>
      <p:ext uri="{BB962C8B-B14F-4D97-AF65-F5344CB8AC3E}">
        <p14:creationId xmlns:p14="http://schemas.microsoft.com/office/powerpoint/2010/main" val="19320492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1570619-E1C9-44DE-B792-20F4B25CC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9720" y="365127"/>
            <a:ext cx="6535630" cy="717950"/>
          </a:xfrm>
        </p:spPr>
        <p:txBody>
          <a:bodyPr>
            <a:normAutofit/>
          </a:bodyPr>
          <a:lstStyle/>
          <a:p>
            <a:r>
              <a:rPr lang="ro-RO" dirty="0">
                <a:latin typeface="Bahnschrift Light SemiCondensed" panose="020B0502040204020203" pitchFamily="34" charset="0"/>
              </a:rPr>
              <a:t>  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xmlns="" id="{600787F5-5E28-4E9C-92EE-DB67C5B2F9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8587" y="1805878"/>
            <a:ext cx="4647187" cy="4696624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9C15B523-A28A-4F22-B326-39305F11FBD0}"/>
              </a:ext>
            </a:extLst>
          </p:cNvPr>
          <p:cNvSpPr txBox="1"/>
          <p:nvPr/>
        </p:nvSpPr>
        <p:spPr>
          <a:xfrm>
            <a:off x="1979720" y="580965"/>
            <a:ext cx="6152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dirty="0">
                <a:solidFill>
                  <a:schemeClr val="tx1">
                    <a:lumMod val="95000"/>
                    <a:lumOff val="5000"/>
                  </a:schemeClr>
                </a:solidFill>
                <a:latin typeface="Bahnschrift Light SemiCondensed" panose="020B0502040204020203" pitchFamily="34" charset="0"/>
              </a:rPr>
              <a:t>APA ALCALINĂ ȘI SUCUL DE CĂTINĂ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xmlns="" id="{2CECEF39-1017-4DEB-A924-788C840B349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72458" y="4224557"/>
            <a:ext cx="3759556" cy="227812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95127F9D-A5FF-448F-90D0-E761785DDA34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50654" y="1805876"/>
            <a:ext cx="3784462" cy="2128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326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BA7B0D9-9A10-439F-A5A9-AE7C063CD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xmlns="" id="{3DAC69EC-7DC4-4FD9-8A16-7639ACF5E3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0644" y="3868860"/>
            <a:ext cx="5059012" cy="126063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o-RO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Proiect marca: Casa Neacșu</a:t>
            </a:r>
          </a:p>
          <a:p>
            <a:pPr marL="0" indent="0" algn="ctr">
              <a:buNone/>
            </a:pPr>
            <a:r>
              <a:rPr lang="ro-RO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Colaborator: </a:t>
            </a:r>
            <a:r>
              <a:rPr lang="ro-RO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Violet</a:t>
            </a:r>
            <a:endParaRPr lang="ro-RO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0220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F8A47A-9043-4F04-8FDF-4D43DD060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5645" y="169817"/>
            <a:ext cx="7886700" cy="1325563"/>
          </a:xfrm>
        </p:spPr>
        <p:txBody>
          <a:bodyPr/>
          <a:lstStyle/>
          <a:p>
            <a:r>
              <a:rPr lang="ro-RO" dirty="0">
                <a:latin typeface="Bahnschrift Light SemiCondensed" panose="020B0502040204020203" pitchFamily="34" charset="0"/>
              </a:rPr>
              <a:t>INFORMAȚII GENERALE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99D96F3-0295-49D9-8D9C-7B9B848CEE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Casa </a:t>
            </a:r>
            <a:r>
              <a:rPr lang="en-US" dirty="0" err="1"/>
              <a:t>Neac</a:t>
            </a:r>
            <a:r>
              <a:rPr lang="ro-RO" dirty="0"/>
              <a:t>ș</a:t>
            </a:r>
            <a:r>
              <a:rPr lang="en-US" dirty="0"/>
              <a:t>u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 smtClean="0"/>
              <a:t>astazi</a:t>
            </a:r>
            <a:r>
              <a:rPr lang="en-US" dirty="0" smtClean="0"/>
              <a:t> </a:t>
            </a:r>
            <a:r>
              <a:rPr lang="en-US" dirty="0" err="1" smtClean="0"/>
              <a:t>cel</a:t>
            </a:r>
            <a:r>
              <a:rPr lang="en-US" dirty="0" smtClean="0"/>
              <a:t> </a:t>
            </a:r>
            <a:r>
              <a:rPr lang="en-US" dirty="0" err="1"/>
              <a:t>mai</a:t>
            </a:r>
            <a:r>
              <a:rPr lang="en-US" dirty="0"/>
              <a:t> important </a:t>
            </a:r>
            <a:r>
              <a:rPr lang="en-US" dirty="0" err="1"/>
              <a:t>produc</a:t>
            </a:r>
            <a:r>
              <a:rPr lang="ro-RO" dirty="0"/>
              <a:t>ă</a:t>
            </a:r>
            <a:r>
              <a:rPr lang="en-US" dirty="0"/>
              <a:t>tor de </a:t>
            </a:r>
            <a:r>
              <a:rPr lang="en-US" dirty="0" err="1"/>
              <a:t>vinuri</a:t>
            </a:r>
            <a:r>
              <a:rPr lang="en-US" dirty="0"/>
              <a:t> BIO din </a:t>
            </a:r>
            <a:r>
              <a:rPr lang="en-US" dirty="0" smtClean="0"/>
              <a:t>Rom</a:t>
            </a:r>
            <a:r>
              <a:rPr lang="ro-RO" dirty="0" smtClean="0"/>
              <a:t>â</a:t>
            </a:r>
            <a:r>
              <a:rPr lang="en-US" dirty="0" err="1" smtClean="0"/>
              <a:t>nia</a:t>
            </a:r>
            <a:r>
              <a:rPr lang="en-US" dirty="0" smtClean="0"/>
              <a:t>.</a:t>
            </a:r>
            <a:endParaRPr lang="ro-RO" dirty="0"/>
          </a:p>
          <a:p>
            <a:pPr marL="0" indent="0">
              <a:buNone/>
            </a:pPr>
            <a:endParaRPr lang="ro-RO" dirty="0" smtClean="0"/>
          </a:p>
          <a:p>
            <a:pPr marL="0" indent="0">
              <a:buNone/>
            </a:pPr>
            <a:r>
              <a:rPr lang="ro-RO" dirty="0" smtClean="0"/>
              <a:t>Ca o urmare fireasca, pentru a raspunde unei nevoi crescande a pietei, s</a:t>
            </a:r>
            <a:r>
              <a:rPr lang="ro-RO" dirty="0"/>
              <a:t>-a născut brandul AQUA NATURA, ce aduce în fața dumneavoastră două produse BIO esențiale pentru sănătatea organismului: </a:t>
            </a:r>
          </a:p>
          <a:p>
            <a:pPr marL="0" indent="0">
              <a:buNone/>
            </a:pPr>
            <a:r>
              <a:rPr lang="ro-RO" dirty="0" smtClean="0"/>
              <a:t>APA </a:t>
            </a:r>
            <a:r>
              <a:rPr lang="ro-RO" dirty="0"/>
              <a:t>ALCALINĂ </a:t>
            </a:r>
            <a:r>
              <a:rPr lang="ro-RO" i="1" dirty="0"/>
              <a:t>GEIA</a:t>
            </a:r>
          </a:p>
          <a:p>
            <a:pPr marL="0" indent="0">
              <a:buNone/>
            </a:pPr>
            <a:r>
              <a:rPr lang="ro-RO" dirty="0" smtClean="0"/>
              <a:t>SUCUL </a:t>
            </a:r>
            <a:r>
              <a:rPr lang="ro-RO" dirty="0"/>
              <a:t>DE CĂTINĂ </a:t>
            </a:r>
            <a:r>
              <a:rPr lang="ro-RO" i="1" dirty="0"/>
              <a:t>ELIKSIR</a:t>
            </a:r>
            <a:endParaRPr lang="ro-RO" dirty="0"/>
          </a:p>
          <a:p>
            <a:endParaRPr lang="ro-RO" dirty="0"/>
          </a:p>
          <a:p>
            <a:pPr marL="0" indent="0">
              <a:buNone/>
            </a:pPr>
            <a:endParaRPr lang="en-US" dirty="0"/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415831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95669" y="196677"/>
            <a:ext cx="4537539" cy="1325563"/>
          </a:xfrm>
        </p:spPr>
        <p:txBody>
          <a:bodyPr/>
          <a:lstStyle/>
          <a:p>
            <a:pPr algn="ctr"/>
            <a:r>
              <a:rPr lang="en-US" dirty="0" smtClean="0">
                <a:latin typeface="+mn-lt"/>
              </a:rPr>
              <a:t>BIO de Romania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2006" y="2115550"/>
            <a:ext cx="3816521" cy="3033985"/>
          </a:xfrm>
        </p:spPr>
        <p:txBody>
          <a:bodyPr>
            <a:noAutofit/>
          </a:bodyPr>
          <a:lstStyle/>
          <a:p>
            <a:pPr marL="0" indent="0" algn="r">
              <a:buNone/>
            </a:pPr>
            <a:r>
              <a:rPr lang="en-US" sz="4000" dirty="0" smtClean="0"/>
              <a:t>Casa </a:t>
            </a:r>
            <a:r>
              <a:rPr lang="en-US" sz="4000" dirty="0" err="1" smtClean="0"/>
              <a:t>Neacsu</a:t>
            </a:r>
            <a:r>
              <a:rPr lang="en-US" sz="4000" dirty="0" smtClean="0"/>
              <a:t> se </a:t>
            </a:r>
            <a:r>
              <a:rPr lang="en-US" sz="4000" dirty="0" err="1" smtClean="0"/>
              <a:t>pozitioneaza</a:t>
            </a:r>
            <a:r>
              <a:rPr lang="en-US" sz="4000" dirty="0" smtClean="0"/>
              <a:t> </a:t>
            </a:r>
            <a:r>
              <a:rPr lang="en-US" sz="4000" dirty="0" err="1" smtClean="0"/>
              <a:t>ca</a:t>
            </a:r>
            <a:r>
              <a:rPr lang="en-US" sz="4000" dirty="0"/>
              <a:t> </a:t>
            </a:r>
            <a:r>
              <a:rPr lang="en-US" sz="4000" dirty="0" err="1" smtClean="0"/>
              <a:t>lider</a:t>
            </a:r>
            <a:r>
              <a:rPr lang="en-US" sz="4000" dirty="0" smtClean="0"/>
              <a:t> al </a:t>
            </a:r>
            <a:r>
              <a:rPr lang="en-US" sz="4000" dirty="0" err="1" smtClean="0"/>
              <a:t>pietei</a:t>
            </a:r>
            <a:r>
              <a:rPr lang="en-US" sz="4000" dirty="0" smtClean="0"/>
              <a:t> de </a:t>
            </a:r>
            <a:r>
              <a:rPr lang="en-US" sz="4000" dirty="0" err="1" smtClean="0"/>
              <a:t>produse</a:t>
            </a:r>
            <a:r>
              <a:rPr lang="en-US" sz="4000" dirty="0" smtClean="0"/>
              <a:t> BIO </a:t>
            </a:r>
            <a:r>
              <a:rPr lang="en-US" sz="4000" dirty="0" err="1" smtClean="0"/>
              <a:t>romanesti</a:t>
            </a:r>
            <a:endParaRPr lang="en-US" sz="4000" dirty="0"/>
          </a:p>
        </p:txBody>
      </p:sp>
      <p:pic>
        <p:nvPicPr>
          <p:cNvPr id="4" name="Picture 3" descr="CasaNeacșuEcliψă-08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2772" y="2315150"/>
            <a:ext cx="3604933" cy="2516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059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823" y="1606731"/>
            <a:ext cx="8569233" cy="4570232"/>
          </a:xfrm>
        </p:spPr>
        <p:txBody>
          <a:bodyPr>
            <a:normAutofit fontScale="62500" lnSpcReduction="2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o-RO" sz="3500" dirty="0" smtClean="0">
                <a:latin typeface="Calibri" panose="020F0502020204030204" pitchFamily="34" charset="0"/>
                <a:cs typeface="Andalus" panose="02020603050405020304" pitchFamily="18" charset="-78"/>
              </a:rPr>
              <a:t>Apa </a:t>
            </a:r>
            <a:r>
              <a:rPr lang="ro-RO" sz="3500" dirty="0">
                <a:latin typeface="Calibri" panose="020F0502020204030204" pitchFamily="34" charset="0"/>
                <a:cs typeface="Andalus" panose="02020603050405020304" pitchFamily="18" charset="-78"/>
              </a:rPr>
              <a:t>alcalin</a:t>
            </a:r>
            <a:r>
              <a:rPr lang="en-GB" sz="3500" dirty="0">
                <a:latin typeface="Calibri" panose="020F0502020204030204" pitchFamily="34" charset="0"/>
                <a:cs typeface="Andalus" panose="02020603050405020304" pitchFamily="18" charset="-78"/>
              </a:rPr>
              <a:t>a</a:t>
            </a:r>
            <a:r>
              <a:rPr lang="ro-RO" sz="3500" dirty="0">
                <a:latin typeface="Calibri" panose="020F0502020204030204" pitchFamily="34" charset="0"/>
                <a:cs typeface="Andalus" panose="02020603050405020304" pitchFamily="18" charset="-78"/>
              </a:rPr>
              <a:t> - </a:t>
            </a:r>
            <a:r>
              <a:rPr lang="en-US" sz="3500" dirty="0">
                <a:latin typeface="Calibri" panose="020F0502020204030204" pitchFamily="34" charset="0"/>
                <a:cs typeface="Andalus" panose="02020603050405020304" pitchFamily="18" charset="-78"/>
              </a:rPr>
              <a:t>desi </a:t>
            </a:r>
            <a:r>
              <a:rPr lang="ro-RO" sz="3500" dirty="0">
                <a:latin typeface="Calibri" panose="020F0502020204030204" pitchFamily="34" charset="0"/>
                <a:cs typeface="Andalus" panose="02020603050405020304" pitchFamily="18" charset="-78"/>
              </a:rPr>
              <a:t>nu </a:t>
            </a:r>
            <a:r>
              <a:rPr lang="en-US" sz="3500" dirty="0">
                <a:latin typeface="Calibri" panose="020F0502020204030204" pitchFamily="34" charset="0"/>
                <a:cs typeface="Andalus" panose="02020603050405020304" pitchFamily="18" charset="-78"/>
              </a:rPr>
              <a:t>are </a:t>
            </a:r>
            <a:r>
              <a:rPr lang="en-US" sz="3500" dirty="0" err="1">
                <a:latin typeface="Calibri" panose="020F0502020204030204" pitchFamily="34" charset="0"/>
                <a:cs typeface="Andalus" panose="02020603050405020304" pitchFamily="18" charset="-78"/>
              </a:rPr>
              <a:t>valoare</a:t>
            </a:r>
            <a:r>
              <a:rPr lang="en-US" sz="3500" dirty="0">
                <a:latin typeface="Calibri" panose="020F0502020204030204" pitchFamily="34" charset="0"/>
                <a:cs typeface="Andalus" panose="02020603050405020304" pitchFamily="18" charset="-78"/>
              </a:rPr>
              <a:t> </a:t>
            </a:r>
            <a:r>
              <a:rPr lang="ro-RO" sz="3500" dirty="0">
                <a:latin typeface="Calibri" panose="020F0502020204030204" pitchFamily="34" charset="0"/>
                <a:cs typeface="Andalus" panose="02020603050405020304" pitchFamily="18" charset="-78"/>
              </a:rPr>
              <a:t>de </a:t>
            </a:r>
            <a:r>
              <a:rPr lang="ro-RO" sz="3500" dirty="0" smtClean="0">
                <a:latin typeface="Calibri" panose="020F0502020204030204" pitchFamily="34" charset="0"/>
                <a:cs typeface="Andalus" panose="02020603050405020304" pitchFamily="18" charset="-78"/>
              </a:rPr>
              <a:t>medicament, </a:t>
            </a:r>
            <a:r>
              <a:rPr lang="en-US" sz="3500" dirty="0" err="1">
                <a:latin typeface="Calibri" panose="020F0502020204030204" pitchFamily="34" charset="0"/>
                <a:cs typeface="Andalus" panose="02020603050405020304" pitchFamily="18" charset="-78"/>
              </a:rPr>
              <a:t>asigura</a:t>
            </a:r>
            <a:r>
              <a:rPr lang="en-US" sz="3500" dirty="0">
                <a:latin typeface="Calibri" panose="020F0502020204030204" pitchFamily="34" charset="0"/>
                <a:cs typeface="Andalus" panose="02020603050405020304" pitchFamily="18" charset="-78"/>
              </a:rPr>
              <a:t> o parte din </a:t>
            </a:r>
            <a:r>
              <a:rPr lang="en-US" sz="3500" dirty="0" err="1">
                <a:latin typeface="Calibri" panose="020F0502020204030204" pitchFamily="34" charset="0"/>
                <a:cs typeface="Andalus" panose="02020603050405020304" pitchFamily="18" charset="-78"/>
              </a:rPr>
              <a:t>aportul</a:t>
            </a:r>
            <a:r>
              <a:rPr lang="en-US" sz="3500" dirty="0">
                <a:latin typeface="Calibri" panose="020F0502020204030204" pitchFamily="34" charset="0"/>
                <a:cs typeface="Andalus" panose="02020603050405020304" pitchFamily="18" charset="-78"/>
              </a:rPr>
              <a:t> de </a:t>
            </a:r>
            <a:r>
              <a:rPr lang="en-US" sz="3500" dirty="0" err="1">
                <a:latin typeface="Calibri" panose="020F0502020204030204" pitchFamily="34" charset="0"/>
                <a:cs typeface="Andalus" panose="02020603050405020304" pitchFamily="18" charset="-78"/>
              </a:rPr>
              <a:t>minerale</a:t>
            </a:r>
            <a:r>
              <a:rPr lang="en-US" sz="3500" dirty="0">
                <a:latin typeface="Calibri" panose="020F0502020204030204" pitchFamily="34" charset="0"/>
                <a:cs typeface="Andalus" panose="02020603050405020304" pitchFamily="18" charset="-78"/>
              </a:rPr>
              <a:t> </a:t>
            </a:r>
            <a:r>
              <a:rPr lang="en-US" sz="3500" dirty="0" err="1">
                <a:latin typeface="Calibri" panose="020F0502020204030204" pitchFamily="34" charset="0"/>
                <a:cs typeface="Andalus" panose="02020603050405020304" pitchFamily="18" charset="-78"/>
              </a:rPr>
              <a:t>necesar</a:t>
            </a:r>
            <a:r>
              <a:rPr lang="en-US" sz="3500" dirty="0">
                <a:latin typeface="Calibri" panose="020F0502020204030204" pitchFamily="34" charset="0"/>
                <a:cs typeface="Andalus" panose="02020603050405020304" pitchFamily="18" charset="-78"/>
              </a:rPr>
              <a:t> </a:t>
            </a:r>
            <a:r>
              <a:rPr lang="en-US" sz="3500" dirty="0" err="1">
                <a:latin typeface="Calibri" panose="020F0502020204030204" pitchFamily="34" charset="0"/>
                <a:cs typeface="Andalus" panose="02020603050405020304" pitchFamily="18" charset="-78"/>
              </a:rPr>
              <a:t>si</a:t>
            </a:r>
            <a:r>
              <a:rPr lang="en-US" sz="3500" dirty="0">
                <a:latin typeface="Calibri" panose="020F0502020204030204" pitchFamily="34" charset="0"/>
                <a:cs typeface="Andalus" panose="02020603050405020304" pitchFamily="18" charset="-78"/>
              </a:rPr>
              <a:t> </a:t>
            </a:r>
            <a:r>
              <a:rPr lang="ro-RO" sz="3500" dirty="0">
                <a:latin typeface="Calibri" panose="020F0502020204030204" pitchFamily="34" charset="0"/>
                <a:cs typeface="Andalus" panose="02020603050405020304" pitchFamily="18" charset="-78"/>
              </a:rPr>
              <a:t>are uimitoarea capacitate de a neutraliza </a:t>
            </a:r>
            <a:r>
              <a:rPr lang="en-GB" sz="3500" dirty="0" smtClean="0">
                <a:latin typeface="Calibri" panose="020F0502020204030204" pitchFamily="34" charset="0"/>
                <a:cs typeface="Andalus" panose="02020603050405020304" pitchFamily="18" charset="-78"/>
              </a:rPr>
              <a:t>s</a:t>
            </a:r>
            <a:r>
              <a:rPr lang="ro-RO" sz="3500" dirty="0">
                <a:latin typeface="Calibri" panose="020F0502020204030204" pitchFamily="34" charset="0"/>
                <a:cs typeface="Andalus" panose="02020603050405020304" pitchFamily="18" charset="-78"/>
              </a:rPr>
              <a:t>i lichefia de</a:t>
            </a:r>
            <a:r>
              <a:rPr lang="en-GB" sz="3500" dirty="0">
                <a:latin typeface="Calibri" panose="020F0502020204030204" pitchFamily="34" charset="0"/>
                <a:cs typeface="Andalus" panose="02020603050405020304" pitchFamily="18" charset="-78"/>
              </a:rPr>
              <a:t>s</a:t>
            </a:r>
            <a:r>
              <a:rPr lang="ro-RO" sz="3500" dirty="0">
                <a:latin typeface="Calibri" panose="020F0502020204030204" pitchFamily="34" charset="0"/>
                <a:cs typeface="Andalus" panose="02020603050405020304" pitchFamily="18" charset="-78"/>
              </a:rPr>
              <a:t>eurile acide pentru a putea fi eliminate din organism, p</a:t>
            </a:r>
            <a:r>
              <a:rPr lang="en-GB" sz="3500" dirty="0">
                <a:latin typeface="Calibri" panose="020F0502020204030204" pitchFamily="34" charset="0"/>
                <a:cs typeface="Andalus" panose="02020603050405020304" pitchFamily="18" charset="-78"/>
              </a:rPr>
              <a:t>a</a:t>
            </a:r>
            <a:r>
              <a:rPr lang="ro-RO" sz="3500" dirty="0">
                <a:latin typeface="Calibri" panose="020F0502020204030204" pitchFamily="34" charset="0"/>
                <a:cs typeface="Andalus" panose="02020603050405020304" pitchFamily="18" charset="-78"/>
              </a:rPr>
              <a:t>strând alcalinitatea acestuia - deci s</a:t>
            </a:r>
            <a:r>
              <a:rPr lang="en-GB" sz="3500" dirty="0">
                <a:latin typeface="Calibri" panose="020F0502020204030204" pitchFamily="34" charset="0"/>
                <a:cs typeface="Andalus" panose="02020603050405020304" pitchFamily="18" charset="-78"/>
              </a:rPr>
              <a:t>a</a:t>
            </a:r>
            <a:r>
              <a:rPr lang="ro-RO" sz="3500" dirty="0">
                <a:latin typeface="Calibri" panose="020F0502020204030204" pitchFamily="34" charset="0"/>
                <a:cs typeface="Andalus" panose="02020603050405020304" pitchFamily="18" charset="-78"/>
              </a:rPr>
              <a:t>n</a:t>
            </a:r>
            <a:r>
              <a:rPr lang="en-GB" sz="3500" dirty="0">
                <a:latin typeface="Calibri" panose="020F0502020204030204" pitchFamily="34" charset="0"/>
                <a:cs typeface="Andalus" panose="02020603050405020304" pitchFamily="18" charset="-78"/>
              </a:rPr>
              <a:t>a</a:t>
            </a:r>
            <a:r>
              <a:rPr lang="ro-RO" sz="3500" dirty="0">
                <a:latin typeface="Calibri" panose="020F0502020204030204" pitchFamily="34" charset="0"/>
                <a:cs typeface="Andalus" panose="02020603050405020304" pitchFamily="18" charset="-78"/>
              </a:rPr>
              <a:t>tatea </a:t>
            </a:r>
            <a:r>
              <a:rPr lang="en-GB" sz="3500" dirty="0">
                <a:latin typeface="Calibri" panose="020F0502020204030204" pitchFamily="34" charset="0"/>
                <a:cs typeface="Andalus" panose="02020603050405020304" pitchFamily="18" charset="-78"/>
              </a:rPr>
              <a:t>s</a:t>
            </a:r>
            <a:r>
              <a:rPr lang="ro-RO" sz="3500" dirty="0">
                <a:latin typeface="Calibri" panose="020F0502020204030204" pitchFamily="34" charset="0"/>
                <a:cs typeface="Andalus" panose="02020603050405020304" pitchFamily="18" charset="-78"/>
              </a:rPr>
              <a:t>i starea de bine</a:t>
            </a:r>
            <a:r>
              <a:rPr lang="ro-RO" sz="3500" dirty="0" smtClean="0">
                <a:latin typeface="Calibri" panose="020F0502020204030204" pitchFamily="34" charset="0"/>
                <a:cs typeface="Andalus" panose="02020603050405020304" pitchFamily="18" charset="-78"/>
              </a:rPr>
              <a:t>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o-RO" sz="3500" dirty="0" smtClean="0">
                <a:latin typeface="Calibri" panose="020F0502020204030204" pitchFamily="34" charset="0"/>
                <a:cs typeface="Andalus" panose="02020603050405020304" pitchFamily="18" charset="-78"/>
              </a:rPr>
              <a:t>Ca si </a:t>
            </a:r>
            <a:r>
              <a:rPr lang="ro-RO" sz="3500" b="1" dirty="0" smtClean="0">
                <a:latin typeface="Calibri" panose="020F0502020204030204" pitchFamily="34" charset="0"/>
                <a:cs typeface="Andalus" panose="02020603050405020304" pitchFamily="18" charset="-78"/>
              </a:rPr>
              <a:t>VINU</a:t>
            </a:r>
            <a:r>
              <a:rPr lang="ro-RO" sz="3500" dirty="0" smtClean="0">
                <a:latin typeface="Calibri" panose="020F0502020204030204" pitchFamily="34" charset="0"/>
                <a:cs typeface="Andalus" panose="02020603050405020304" pitchFamily="18" charset="-78"/>
              </a:rPr>
              <a:t>L a </a:t>
            </a:r>
            <a:r>
              <a:rPr lang="ro-RO" sz="3500" dirty="0" err="1" smtClean="0">
                <a:latin typeface="Calibri" panose="020F0502020204030204" pitchFamily="34" charset="0"/>
                <a:cs typeface="Andalus" panose="02020603050405020304" pitchFamily="18" charset="-78"/>
              </a:rPr>
              <a:t>carui</a:t>
            </a:r>
            <a:r>
              <a:rPr lang="ro-RO" sz="3500" dirty="0" smtClean="0">
                <a:latin typeface="Calibri" panose="020F0502020204030204" pitchFamily="34" charset="0"/>
                <a:cs typeface="Andalus" panose="02020603050405020304" pitchFamily="18" charset="-78"/>
              </a:rPr>
              <a:t> </a:t>
            </a:r>
            <a:r>
              <a:rPr lang="ro-RO" sz="3500" dirty="0" err="1" smtClean="0">
                <a:latin typeface="Calibri" panose="020F0502020204030204" pitchFamily="34" charset="0"/>
                <a:cs typeface="Andalus" panose="02020603050405020304" pitchFamily="18" charset="-78"/>
              </a:rPr>
              <a:t>compozitie</a:t>
            </a:r>
            <a:r>
              <a:rPr lang="ro-RO" sz="3500" dirty="0" smtClean="0">
                <a:latin typeface="Calibri" panose="020F0502020204030204" pitchFamily="34" charset="0"/>
                <a:cs typeface="Andalus" panose="02020603050405020304" pitchFamily="18" charset="-78"/>
              </a:rPr>
              <a:t> reflecta fidel condițiile de clima și sol din zona in care este produs, </a:t>
            </a:r>
            <a:r>
              <a:rPr lang="ro-RO" sz="3500" b="1" dirty="0" smtClean="0">
                <a:latin typeface="Calibri" panose="020F0502020204030204" pitchFamily="34" charset="0"/>
                <a:cs typeface="Andalus" panose="02020603050405020304" pitchFamily="18" charset="-78"/>
              </a:rPr>
              <a:t>APA</a:t>
            </a:r>
            <a:r>
              <a:rPr lang="ro-RO" sz="3500" dirty="0" smtClean="0">
                <a:latin typeface="Calibri" panose="020F0502020204030204" pitchFamily="34" charset="0"/>
                <a:cs typeface="Andalus" panose="02020603050405020304" pitchFamily="18" charset="-78"/>
              </a:rPr>
              <a:t> are </a:t>
            </a:r>
            <a:r>
              <a:rPr lang="ro-RO" sz="3500" dirty="0" err="1" smtClean="0">
                <a:latin typeface="Calibri" panose="020F0502020204030204" pitchFamily="34" charset="0"/>
                <a:cs typeface="Andalus" panose="02020603050405020304" pitchFamily="18" charset="-78"/>
              </a:rPr>
              <a:t>compozitie</a:t>
            </a:r>
            <a:r>
              <a:rPr lang="ro-RO" sz="3500" dirty="0" smtClean="0">
                <a:latin typeface="Calibri" panose="020F0502020204030204" pitchFamily="34" charset="0"/>
                <a:cs typeface="Andalus" panose="02020603050405020304" pitchFamily="18" charset="-78"/>
              </a:rPr>
              <a:t> UNICA datorată EXCLUSIV arealului din care provine. </a:t>
            </a:r>
            <a:endParaRPr lang="en-GB" sz="3500" dirty="0">
              <a:latin typeface="Calibri" panose="020F0502020204030204" pitchFamily="34" charset="0"/>
              <a:cs typeface="Andalus" panose="02020603050405020304" pitchFamily="18" charset="-78"/>
            </a:endParaRPr>
          </a:p>
          <a:p>
            <a:pPr>
              <a:lnSpc>
                <a:spcPct val="100000"/>
              </a:lnSpc>
            </a:pPr>
            <a:endParaRPr lang="en-GB" sz="3500" dirty="0">
              <a:latin typeface="Calibri" panose="020F0502020204030204" pitchFamily="34" charset="0"/>
              <a:cs typeface="Andalus" panose="02020603050405020304" pitchFamily="18" charset="-78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GB" sz="3500" dirty="0">
                <a:latin typeface="Calibri" panose="020F0502020204030204" pitchFamily="34" charset="0"/>
                <a:cs typeface="Andalus" panose="02020603050405020304" pitchFamily="18" charset="-78"/>
              </a:rPr>
              <a:t>De </a:t>
            </a:r>
            <a:r>
              <a:rPr lang="en-GB" sz="3500" dirty="0" err="1">
                <a:latin typeface="Calibri" panose="020F0502020204030204" pitchFamily="34" charset="0"/>
                <a:cs typeface="Andalus" panose="02020603050405020304" pitchFamily="18" charset="-78"/>
              </a:rPr>
              <a:t>ce</a:t>
            </a:r>
            <a:r>
              <a:rPr lang="en-GB" sz="3500" dirty="0">
                <a:latin typeface="Calibri" panose="020F0502020204030204" pitchFamily="34" charset="0"/>
                <a:cs typeface="Andalus" panose="02020603050405020304" pitchFamily="18" charset="-78"/>
              </a:rPr>
              <a:t> </a:t>
            </a:r>
            <a:r>
              <a:rPr lang="en-GB" sz="3500" b="1" dirty="0" smtClean="0">
                <a:solidFill>
                  <a:srgbClr val="00B050"/>
                </a:solidFill>
                <a:latin typeface="Calibri" panose="020F0502020204030204" pitchFamily="34" charset="0"/>
                <a:cs typeface="Andalus" panose="02020603050405020304" pitchFamily="18" charset="-78"/>
              </a:rPr>
              <a:t>BIO</a:t>
            </a:r>
            <a:r>
              <a:rPr lang="en-GB" sz="3500" dirty="0" smtClean="0">
                <a:latin typeface="Calibri" panose="020F0502020204030204" pitchFamily="34" charset="0"/>
                <a:cs typeface="Andalus" panose="02020603050405020304" pitchFamily="18" charset="-78"/>
              </a:rPr>
              <a:t> - </a:t>
            </a:r>
            <a:r>
              <a:rPr lang="en-GB" sz="3500" dirty="0">
                <a:latin typeface="Calibri" panose="020F0502020204030204" pitchFamily="34" charset="0"/>
                <a:cs typeface="Andalus" panose="02020603050405020304" pitchFamily="18" charset="-78"/>
              </a:rPr>
              <a:t>Lucian </a:t>
            </a:r>
            <a:r>
              <a:rPr lang="en-GB" sz="3500" dirty="0" err="1">
                <a:latin typeface="Calibri" panose="020F0502020204030204" pitchFamily="34" charset="0"/>
                <a:cs typeface="Andalus" panose="02020603050405020304" pitchFamily="18" charset="-78"/>
              </a:rPr>
              <a:t>Neacsu</a:t>
            </a:r>
            <a:r>
              <a:rPr lang="en-GB" sz="3500" dirty="0">
                <a:latin typeface="Calibri" panose="020F0502020204030204" pitchFamily="34" charset="0"/>
                <a:cs typeface="Andalus" panose="02020603050405020304" pitchFamily="18" charset="-78"/>
              </a:rPr>
              <a:t>, </a:t>
            </a:r>
            <a:r>
              <a:rPr lang="en-GB" sz="3500" dirty="0" err="1">
                <a:latin typeface="Calibri" panose="020F0502020204030204" pitchFamily="34" charset="0"/>
                <a:cs typeface="Andalus" panose="02020603050405020304" pitchFamily="18" charset="-78"/>
              </a:rPr>
              <a:t>este</a:t>
            </a:r>
            <a:r>
              <a:rPr lang="en-GB" sz="3500" dirty="0">
                <a:latin typeface="Calibri" panose="020F0502020204030204" pitchFamily="34" charset="0"/>
                <a:cs typeface="Andalus" panose="02020603050405020304" pitchFamily="18" charset="-78"/>
              </a:rPr>
              <a:t> </a:t>
            </a:r>
            <a:r>
              <a:rPr lang="en-GB" sz="3500" dirty="0" err="1">
                <a:latin typeface="Calibri" panose="020F0502020204030204" pitchFamily="34" charset="0"/>
                <a:cs typeface="Andalus" panose="02020603050405020304" pitchFamily="18" charset="-78"/>
              </a:rPr>
              <a:t>unul</a:t>
            </a:r>
            <a:r>
              <a:rPr lang="en-GB" sz="3500" dirty="0">
                <a:latin typeface="Calibri" panose="020F0502020204030204" pitchFamily="34" charset="0"/>
                <a:cs typeface="Andalus" panose="02020603050405020304" pitchFamily="18" charset="-78"/>
              </a:rPr>
              <a:t> </a:t>
            </a:r>
            <a:r>
              <a:rPr lang="en-GB" sz="3500" dirty="0" err="1">
                <a:latin typeface="Calibri" panose="020F0502020204030204" pitchFamily="34" charset="0"/>
                <a:cs typeface="Andalus" panose="02020603050405020304" pitchFamily="18" charset="-78"/>
              </a:rPr>
              <a:t>dintre</a:t>
            </a:r>
            <a:r>
              <a:rPr lang="en-GB" sz="3500" dirty="0">
                <a:latin typeface="Calibri" panose="020F0502020204030204" pitchFamily="34" charset="0"/>
                <a:cs typeface="Andalus" panose="02020603050405020304" pitchFamily="18" charset="-78"/>
              </a:rPr>
              <a:t> </a:t>
            </a:r>
            <a:r>
              <a:rPr lang="en-GB" sz="3500" dirty="0" err="1">
                <a:latin typeface="Calibri" panose="020F0502020204030204" pitchFamily="34" charset="0"/>
                <a:cs typeface="Andalus" panose="02020603050405020304" pitchFamily="18" charset="-78"/>
              </a:rPr>
              <a:t>cei</a:t>
            </a:r>
            <a:r>
              <a:rPr lang="en-GB" sz="3500" dirty="0">
                <a:latin typeface="Calibri" panose="020F0502020204030204" pitchFamily="34" charset="0"/>
                <a:cs typeface="Andalus" panose="02020603050405020304" pitchFamily="18" charset="-78"/>
              </a:rPr>
              <a:t> </a:t>
            </a:r>
            <a:r>
              <a:rPr lang="en-GB" sz="3500" dirty="0" err="1">
                <a:latin typeface="Calibri" panose="020F0502020204030204" pitchFamily="34" charset="0"/>
                <a:cs typeface="Andalus" panose="02020603050405020304" pitchFamily="18" charset="-78"/>
              </a:rPr>
              <a:t>mai</a:t>
            </a:r>
            <a:r>
              <a:rPr lang="en-GB" sz="3500" dirty="0">
                <a:latin typeface="Calibri" panose="020F0502020204030204" pitchFamily="34" charset="0"/>
                <a:cs typeface="Andalus" panose="02020603050405020304" pitchFamily="18" charset="-78"/>
              </a:rPr>
              <a:t> </a:t>
            </a:r>
            <a:r>
              <a:rPr lang="en-GB" sz="3500" dirty="0" err="1">
                <a:latin typeface="Calibri" panose="020F0502020204030204" pitchFamily="34" charset="0"/>
                <a:cs typeface="Andalus" panose="02020603050405020304" pitchFamily="18" charset="-78"/>
              </a:rPr>
              <a:t>importanti</a:t>
            </a:r>
            <a:r>
              <a:rPr lang="en-GB" sz="3500" dirty="0">
                <a:latin typeface="Calibri" panose="020F0502020204030204" pitchFamily="34" charset="0"/>
                <a:cs typeface="Andalus" panose="02020603050405020304" pitchFamily="18" charset="-78"/>
              </a:rPr>
              <a:t> </a:t>
            </a:r>
            <a:r>
              <a:rPr lang="en-GB" sz="3500" dirty="0" err="1">
                <a:latin typeface="Calibri" panose="020F0502020204030204" pitchFamily="34" charset="0"/>
                <a:cs typeface="Andalus" panose="02020603050405020304" pitchFamily="18" charset="-78"/>
              </a:rPr>
              <a:t>promotori</a:t>
            </a:r>
            <a:r>
              <a:rPr lang="en-GB" sz="3500" dirty="0">
                <a:latin typeface="Calibri" panose="020F0502020204030204" pitchFamily="34" charset="0"/>
                <a:cs typeface="Andalus" panose="02020603050405020304" pitchFamily="18" charset="-78"/>
              </a:rPr>
              <a:t> </a:t>
            </a:r>
            <a:r>
              <a:rPr lang="en-GB" sz="3500" dirty="0" err="1">
                <a:latin typeface="Calibri" panose="020F0502020204030204" pitchFamily="34" charset="0"/>
                <a:cs typeface="Andalus" panose="02020603050405020304" pitchFamily="18" charset="-78"/>
              </a:rPr>
              <a:t>ai</a:t>
            </a:r>
            <a:r>
              <a:rPr lang="en-GB" sz="3500" dirty="0">
                <a:latin typeface="Calibri" panose="020F0502020204030204" pitchFamily="34" charset="0"/>
                <a:cs typeface="Andalus" panose="02020603050405020304" pitchFamily="18" charset="-78"/>
              </a:rPr>
              <a:t> </a:t>
            </a:r>
            <a:r>
              <a:rPr lang="en-GB" sz="3500" dirty="0" err="1">
                <a:latin typeface="Calibri" panose="020F0502020204030204" pitchFamily="34" charset="0"/>
                <a:cs typeface="Andalus" panose="02020603050405020304" pitchFamily="18" charset="-78"/>
              </a:rPr>
              <a:t>conceptului</a:t>
            </a:r>
            <a:r>
              <a:rPr lang="en-GB" sz="3500" dirty="0">
                <a:latin typeface="Calibri" panose="020F0502020204030204" pitchFamily="34" charset="0"/>
                <a:cs typeface="Andalus" panose="02020603050405020304" pitchFamily="18" charset="-78"/>
              </a:rPr>
              <a:t> de vin BIO in Romania. </a:t>
            </a:r>
            <a:r>
              <a:rPr lang="en-GB" sz="3500" dirty="0" err="1">
                <a:latin typeface="Calibri" panose="020F0502020204030204" pitchFamily="34" charset="0"/>
                <a:cs typeface="Andalus" panose="02020603050405020304" pitchFamily="18" charset="-78"/>
              </a:rPr>
              <a:t>Pentru</a:t>
            </a:r>
            <a:r>
              <a:rPr lang="en-GB" sz="3500" dirty="0">
                <a:latin typeface="Calibri" panose="020F0502020204030204" pitchFamily="34" charset="0"/>
                <a:cs typeface="Andalus" panose="02020603050405020304" pitchFamily="18" charset="-78"/>
              </a:rPr>
              <a:t> Lucian, BIO </a:t>
            </a:r>
            <a:r>
              <a:rPr lang="en-GB" sz="3500" dirty="0" err="1">
                <a:latin typeface="Calibri" panose="020F0502020204030204" pitchFamily="34" charset="0"/>
                <a:cs typeface="Andalus" panose="02020603050405020304" pitchFamily="18" charset="-78"/>
              </a:rPr>
              <a:t>este</a:t>
            </a:r>
            <a:r>
              <a:rPr lang="en-GB" sz="3500" dirty="0">
                <a:latin typeface="Calibri" panose="020F0502020204030204" pitchFamily="34" charset="0"/>
                <a:cs typeface="Andalus" panose="02020603050405020304" pitchFamily="18" charset="-78"/>
              </a:rPr>
              <a:t> un mod de </a:t>
            </a:r>
            <a:r>
              <a:rPr lang="en-GB" sz="3500" dirty="0" err="1" smtClean="0">
                <a:latin typeface="Calibri" panose="020F0502020204030204" pitchFamily="34" charset="0"/>
                <a:cs typeface="Andalus" panose="02020603050405020304" pitchFamily="18" charset="-78"/>
              </a:rPr>
              <a:t>viata</a:t>
            </a:r>
            <a:r>
              <a:rPr lang="en-GB" sz="3500" dirty="0" smtClean="0">
                <a:latin typeface="Calibri" panose="020F0502020204030204" pitchFamily="34" charset="0"/>
                <a:cs typeface="Andalus" panose="02020603050405020304" pitchFamily="18" charset="-78"/>
              </a:rPr>
              <a:t>, BIO </a:t>
            </a:r>
            <a:r>
              <a:rPr lang="en-GB" sz="3500" dirty="0" err="1">
                <a:latin typeface="Calibri" panose="020F0502020204030204" pitchFamily="34" charset="0"/>
                <a:cs typeface="Andalus" panose="02020603050405020304" pitchFamily="18" charset="-78"/>
              </a:rPr>
              <a:t>inseamna</a:t>
            </a:r>
            <a:r>
              <a:rPr lang="en-GB" sz="3500" dirty="0">
                <a:latin typeface="Calibri" panose="020F0502020204030204" pitchFamily="34" charset="0"/>
                <a:cs typeface="Andalus" panose="02020603050405020304" pitchFamily="18" charset="-78"/>
              </a:rPr>
              <a:t> </a:t>
            </a:r>
            <a:r>
              <a:rPr lang="en-GB" sz="3500" dirty="0" err="1">
                <a:latin typeface="Calibri" panose="020F0502020204030204" pitchFamily="34" charset="0"/>
                <a:cs typeface="Andalus" panose="02020603050405020304" pitchFamily="18" charset="-78"/>
              </a:rPr>
              <a:t>pe</a:t>
            </a:r>
            <a:r>
              <a:rPr lang="en-GB" sz="3500" dirty="0">
                <a:latin typeface="Calibri" panose="020F0502020204030204" pitchFamily="34" charset="0"/>
                <a:cs typeface="Andalus" panose="02020603050405020304" pitchFamily="18" charset="-78"/>
              </a:rPr>
              <a:t> de o parte </a:t>
            </a:r>
            <a:r>
              <a:rPr lang="en-GB" sz="3500" dirty="0" err="1">
                <a:latin typeface="Calibri" panose="020F0502020204030204" pitchFamily="34" charset="0"/>
                <a:cs typeface="Andalus" panose="02020603050405020304" pitchFamily="18" charset="-78"/>
              </a:rPr>
              <a:t>calitatea</a:t>
            </a:r>
            <a:r>
              <a:rPr lang="en-GB" sz="3500" dirty="0">
                <a:latin typeface="Calibri" panose="020F0502020204030204" pitchFamily="34" charset="0"/>
                <a:cs typeface="Andalus" panose="02020603050405020304" pitchFamily="18" charset="-78"/>
              </a:rPr>
              <a:t> </a:t>
            </a:r>
            <a:r>
              <a:rPr lang="en-GB" sz="3500" dirty="0" err="1">
                <a:latin typeface="Calibri" panose="020F0502020204030204" pitchFamily="34" charset="0"/>
                <a:cs typeface="Andalus" panose="02020603050405020304" pitchFamily="18" charset="-78"/>
              </a:rPr>
              <a:t>produselor</a:t>
            </a:r>
            <a:r>
              <a:rPr lang="en-GB" sz="3500" dirty="0">
                <a:latin typeface="Calibri" panose="020F0502020204030204" pitchFamily="34" charset="0"/>
                <a:cs typeface="Andalus" panose="02020603050405020304" pitchFamily="18" charset="-78"/>
              </a:rPr>
              <a:t> </a:t>
            </a:r>
            <a:r>
              <a:rPr lang="en-GB" sz="3500" dirty="0" err="1">
                <a:latin typeface="Calibri" panose="020F0502020204030204" pitchFamily="34" charset="0"/>
                <a:cs typeface="Andalus" panose="02020603050405020304" pitchFamily="18" charset="-78"/>
              </a:rPr>
              <a:t>pe</a:t>
            </a:r>
            <a:r>
              <a:rPr lang="en-GB" sz="3500" dirty="0">
                <a:latin typeface="Calibri" panose="020F0502020204030204" pitchFamily="34" charset="0"/>
                <a:cs typeface="Andalus" panose="02020603050405020304" pitchFamily="18" charset="-78"/>
              </a:rPr>
              <a:t> care le produce, </a:t>
            </a:r>
            <a:r>
              <a:rPr lang="en-GB" sz="3500" dirty="0" err="1">
                <a:latin typeface="Calibri" panose="020F0502020204030204" pitchFamily="34" charset="0"/>
                <a:cs typeface="Andalus" panose="02020603050405020304" pitchFamily="18" charset="-78"/>
              </a:rPr>
              <a:t>dar</a:t>
            </a:r>
            <a:r>
              <a:rPr lang="en-GB" sz="3500" dirty="0">
                <a:latin typeface="Calibri" panose="020F0502020204030204" pitchFamily="34" charset="0"/>
                <a:cs typeface="Andalus" panose="02020603050405020304" pitchFamily="18" charset="-78"/>
              </a:rPr>
              <a:t> </a:t>
            </a:r>
            <a:r>
              <a:rPr lang="en-GB" sz="3500" dirty="0" err="1">
                <a:latin typeface="Calibri" panose="020F0502020204030204" pitchFamily="34" charset="0"/>
                <a:cs typeface="Andalus" panose="02020603050405020304" pitchFamily="18" charset="-78"/>
              </a:rPr>
              <a:t>si</a:t>
            </a:r>
            <a:r>
              <a:rPr lang="en-GB" sz="3500" dirty="0">
                <a:latin typeface="Calibri" panose="020F0502020204030204" pitchFamily="34" charset="0"/>
                <a:cs typeface="Andalus" panose="02020603050405020304" pitchFamily="18" charset="-78"/>
              </a:rPr>
              <a:t> un mod </a:t>
            </a:r>
            <a:r>
              <a:rPr lang="en-GB" sz="3500" dirty="0" err="1">
                <a:latin typeface="Calibri" panose="020F0502020204030204" pitchFamily="34" charset="0"/>
                <a:cs typeface="Andalus" panose="02020603050405020304" pitchFamily="18" charset="-78"/>
              </a:rPr>
              <a:t>responsabil</a:t>
            </a:r>
            <a:r>
              <a:rPr lang="en-GB" sz="3500" dirty="0">
                <a:latin typeface="Calibri" panose="020F0502020204030204" pitchFamily="34" charset="0"/>
                <a:cs typeface="Andalus" panose="02020603050405020304" pitchFamily="18" charset="-78"/>
              </a:rPr>
              <a:t> </a:t>
            </a:r>
            <a:r>
              <a:rPr lang="en-GB" sz="3500" dirty="0" err="1" smtClean="0">
                <a:latin typeface="Calibri" panose="020F0502020204030204" pitchFamily="34" charset="0"/>
                <a:cs typeface="Andalus" panose="02020603050405020304" pitchFamily="18" charset="-78"/>
              </a:rPr>
              <a:t>si</a:t>
            </a:r>
            <a:r>
              <a:rPr lang="en-GB" sz="3500" dirty="0" smtClean="0">
                <a:latin typeface="Calibri" panose="020F0502020204030204" pitchFamily="34" charset="0"/>
                <a:cs typeface="Andalus" panose="02020603050405020304" pitchFamily="18" charset="-78"/>
              </a:rPr>
              <a:t> rational de </a:t>
            </a:r>
            <a:r>
              <a:rPr lang="en-GB" sz="3500" dirty="0" err="1" smtClean="0">
                <a:latin typeface="Calibri" panose="020F0502020204030204" pitchFamily="34" charset="0"/>
                <a:cs typeface="Andalus" panose="02020603050405020304" pitchFamily="18" charset="-78"/>
              </a:rPr>
              <a:t>valorificare</a:t>
            </a:r>
            <a:r>
              <a:rPr lang="en-GB" sz="3500" dirty="0" smtClean="0">
                <a:latin typeface="Calibri" panose="020F0502020204030204" pitchFamily="34" charset="0"/>
                <a:cs typeface="Andalus" panose="02020603050405020304" pitchFamily="18" charset="-78"/>
              </a:rPr>
              <a:t> </a:t>
            </a:r>
            <a:r>
              <a:rPr lang="en-GB" sz="3500" dirty="0">
                <a:latin typeface="Calibri" panose="020F0502020204030204" pitchFamily="34" charset="0"/>
                <a:cs typeface="Andalus" panose="02020603050405020304" pitchFamily="18" charset="-78"/>
              </a:rPr>
              <a:t>a </a:t>
            </a:r>
            <a:r>
              <a:rPr lang="en-GB" sz="3500" dirty="0" err="1">
                <a:latin typeface="Calibri" panose="020F0502020204030204" pitchFamily="34" charset="0"/>
                <a:cs typeface="Andalus" panose="02020603050405020304" pitchFamily="18" charset="-78"/>
              </a:rPr>
              <a:t>mediului</a:t>
            </a:r>
            <a:r>
              <a:rPr lang="en-GB" sz="3500" dirty="0">
                <a:latin typeface="Calibri" panose="020F0502020204030204" pitchFamily="34" charset="0"/>
                <a:cs typeface="Andalus" panose="02020603050405020304" pitchFamily="18" charset="-78"/>
              </a:rPr>
              <a:t> </a:t>
            </a:r>
            <a:r>
              <a:rPr lang="en-GB" sz="3500" dirty="0" err="1">
                <a:latin typeface="Calibri" panose="020F0502020204030204" pitchFamily="34" charset="0"/>
                <a:cs typeface="Andalus" panose="02020603050405020304" pitchFamily="18" charset="-78"/>
              </a:rPr>
              <a:t>si</a:t>
            </a:r>
            <a:r>
              <a:rPr lang="en-GB" sz="3500" dirty="0">
                <a:latin typeface="Calibri" panose="020F0502020204030204" pitchFamily="34" charset="0"/>
                <a:cs typeface="Andalus" panose="02020603050405020304" pitchFamily="18" charset="-78"/>
              </a:rPr>
              <a:t> a </a:t>
            </a:r>
            <a:r>
              <a:rPr lang="en-GB" sz="3500" dirty="0" err="1">
                <a:latin typeface="Calibri" panose="020F0502020204030204" pitchFamily="34" charset="0"/>
                <a:cs typeface="Andalus" panose="02020603050405020304" pitchFamily="18" charset="-78"/>
              </a:rPr>
              <a:t>resurselor</a:t>
            </a:r>
            <a:r>
              <a:rPr lang="en-GB" sz="3500" dirty="0">
                <a:latin typeface="Calibri" panose="020F0502020204030204" pitchFamily="34" charset="0"/>
                <a:cs typeface="Andalus" panose="02020603050405020304" pitchFamily="18" charset="-78"/>
              </a:rPr>
              <a:t> </a:t>
            </a:r>
            <a:r>
              <a:rPr lang="en-GB" sz="3500" dirty="0" err="1">
                <a:latin typeface="Calibri" panose="020F0502020204030204" pitchFamily="34" charset="0"/>
                <a:cs typeface="Andalus" panose="02020603050405020304" pitchFamily="18" charset="-78"/>
              </a:rPr>
              <a:t>naturale</a:t>
            </a:r>
            <a:r>
              <a:rPr lang="en-GB" sz="3500" dirty="0" smtClean="0">
                <a:latin typeface="Calibri" panose="020F0502020204030204" pitchFamily="34" charset="0"/>
                <a:cs typeface="Andalus" panose="02020603050405020304" pitchFamily="18" charset="-78"/>
              </a:rPr>
              <a:t>. </a:t>
            </a:r>
            <a:r>
              <a:rPr lang="en-GB" sz="3500" dirty="0" err="1" smtClean="0">
                <a:latin typeface="Calibri" panose="020F0502020204030204" pitchFamily="34" charset="0"/>
                <a:cs typeface="Andalus" panose="02020603050405020304" pitchFamily="18" charset="-78"/>
              </a:rPr>
              <a:t>Deci</a:t>
            </a:r>
            <a:r>
              <a:rPr lang="en-GB" sz="3500" dirty="0" smtClean="0">
                <a:latin typeface="Calibri" panose="020F0502020204030204" pitchFamily="34" charset="0"/>
                <a:cs typeface="Andalus" panose="02020603050405020304" pitchFamily="18" charset="-78"/>
              </a:rPr>
              <a:t> </a:t>
            </a:r>
            <a:r>
              <a:rPr lang="en-GB" sz="3500" dirty="0" err="1" smtClean="0">
                <a:latin typeface="Calibri" panose="020F0502020204030204" pitchFamily="34" charset="0"/>
                <a:cs typeface="Andalus" panose="02020603050405020304" pitchFamily="18" charset="-78"/>
              </a:rPr>
              <a:t>decizia</a:t>
            </a:r>
            <a:r>
              <a:rPr lang="en-GB" sz="3500" dirty="0" smtClean="0">
                <a:latin typeface="Calibri" panose="020F0502020204030204" pitchFamily="34" charset="0"/>
                <a:cs typeface="Andalus" panose="02020603050405020304" pitchFamily="18" charset="-78"/>
              </a:rPr>
              <a:t> a </a:t>
            </a:r>
            <a:r>
              <a:rPr lang="en-GB" sz="3500" dirty="0" err="1" smtClean="0">
                <a:latin typeface="Calibri" panose="020F0502020204030204" pitchFamily="34" charset="0"/>
                <a:cs typeface="Andalus" panose="02020603050405020304" pitchFamily="18" charset="-78"/>
              </a:rPr>
              <a:t>venit</a:t>
            </a:r>
            <a:r>
              <a:rPr lang="en-GB" sz="3500" dirty="0" smtClean="0">
                <a:latin typeface="Calibri" panose="020F0502020204030204" pitchFamily="34" charset="0"/>
                <a:cs typeface="Andalus" panose="02020603050405020304" pitchFamily="18" charset="-78"/>
              </a:rPr>
              <a:t> natural, ca o </a:t>
            </a:r>
            <a:r>
              <a:rPr lang="en-GB" sz="3500" dirty="0" err="1" smtClean="0">
                <a:latin typeface="Calibri" panose="020F0502020204030204" pitchFamily="34" charset="0"/>
                <a:cs typeface="Andalus" panose="02020603050405020304" pitchFamily="18" charset="-78"/>
              </a:rPr>
              <a:t>consecinta</a:t>
            </a:r>
            <a:r>
              <a:rPr lang="en-GB" sz="3500" dirty="0" smtClean="0">
                <a:latin typeface="Calibri" panose="020F0502020204030204" pitchFamily="34" charset="0"/>
                <a:cs typeface="Andalus" panose="02020603050405020304" pitchFamily="18" charset="-78"/>
              </a:rPr>
              <a:t> a </a:t>
            </a:r>
            <a:r>
              <a:rPr lang="en-GB" sz="3500" dirty="0" err="1" smtClean="0">
                <a:latin typeface="Calibri" panose="020F0502020204030204" pitchFamily="34" charset="0"/>
                <a:cs typeface="Andalus" panose="02020603050405020304" pitchFamily="18" charset="-78"/>
              </a:rPr>
              <a:t>convingerilor</a:t>
            </a:r>
            <a:r>
              <a:rPr lang="en-GB" sz="3500" dirty="0" smtClean="0">
                <a:latin typeface="Calibri" panose="020F0502020204030204" pitchFamily="34" charset="0"/>
                <a:cs typeface="Andalus" panose="02020603050405020304" pitchFamily="18" charset="-78"/>
              </a:rPr>
              <a:t> care </a:t>
            </a:r>
            <a:r>
              <a:rPr lang="en-GB" sz="3500" dirty="0" err="1" smtClean="0">
                <a:latin typeface="Calibri" panose="020F0502020204030204" pitchFamily="34" charset="0"/>
                <a:cs typeface="Andalus" panose="02020603050405020304" pitchFamily="18" charset="-78"/>
              </a:rPr>
              <a:t>i</a:t>
            </a:r>
            <a:r>
              <a:rPr lang="en-GB" sz="3500" dirty="0" smtClean="0">
                <a:latin typeface="Calibri" panose="020F0502020204030204" pitchFamily="34" charset="0"/>
                <a:cs typeface="Andalus" panose="02020603050405020304" pitchFamily="18" charset="-78"/>
              </a:rPr>
              <a:t>-au </a:t>
            </a:r>
            <a:r>
              <a:rPr lang="en-GB" sz="3500" dirty="0" err="1" smtClean="0">
                <a:latin typeface="Calibri" panose="020F0502020204030204" pitchFamily="34" charset="0"/>
                <a:cs typeface="Andalus" panose="02020603050405020304" pitchFamily="18" charset="-78"/>
              </a:rPr>
              <a:t>coordonat</a:t>
            </a:r>
            <a:r>
              <a:rPr lang="en-GB" sz="3500" dirty="0" smtClean="0">
                <a:latin typeface="Calibri" panose="020F0502020204030204" pitchFamily="34" charset="0"/>
                <a:cs typeface="Andalus" panose="02020603050405020304" pitchFamily="18" charset="-78"/>
              </a:rPr>
              <a:t> </a:t>
            </a:r>
            <a:r>
              <a:rPr lang="en-GB" sz="3500" dirty="0" err="1" smtClean="0">
                <a:latin typeface="Calibri" panose="020F0502020204030204" pitchFamily="34" charset="0"/>
                <a:cs typeface="Andalus" panose="02020603050405020304" pitchFamily="18" charset="-78"/>
              </a:rPr>
              <a:t>toata</a:t>
            </a:r>
            <a:r>
              <a:rPr lang="en-GB" sz="3500" dirty="0" smtClean="0">
                <a:latin typeface="Calibri" panose="020F0502020204030204" pitchFamily="34" charset="0"/>
                <a:cs typeface="Andalus" panose="02020603050405020304" pitchFamily="18" charset="-78"/>
              </a:rPr>
              <a:t> </a:t>
            </a:r>
            <a:r>
              <a:rPr lang="en-GB" sz="3500" dirty="0" err="1" smtClean="0">
                <a:latin typeface="Calibri" panose="020F0502020204030204" pitchFamily="34" charset="0"/>
                <a:cs typeface="Andalus" panose="02020603050405020304" pitchFamily="18" charset="-78"/>
              </a:rPr>
              <a:t>munca</a:t>
            </a:r>
            <a:r>
              <a:rPr lang="en-GB" sz="3500" dirty="0" smtClean="0">
                <a:latin typeface="Calibri" panose="020F0502020204030204" pitchFamily="34" charset="0"/>
                <a:cs typeface="Andalus" panose="02020603050405020304" pitchFamily="18" charset="-78"/>
              </a:rPr>
              <a:t> </a:t>
            </a:r>
            <a:r>
              <a:rPr lang="en-GB" sz="3500" dirty="0" err="1" smtClean="0">
                <a:latin typeface="Calibri" panose="020F0502020204030204" pitchFamily="34" charset="0"/>
                <a:cs typeface="Andalus" panose="02020603050405020304" pitchFamily="18" charset="-78"/>
              </a:rPr>
              <a:t>depusa</a:t>
            </a:r>
            <a:r>
              <a:rPr lang="en-GB" sz="3500" dirty="0" smtClean="0">
                <a:latin typeface="Calibri" panose="020F0502020204030204" pitchFamily="34" charset="0"/>
                <a:cs typeface="Andalus" panose="02020603050405020304" pitchFamily="18" charset="-78"/>
              </a:rPr>
              <a:t> in </a:t>
            </a:r>
            <a:r>
              <a:rPr lang="en-GB" sz="3500" dirty="0" err="1" smtClean="0">
                <a:latin typeface="Calibri" panose="020F0502020204030204" pitchFamily="34" charset="0"/>
                <a:cs typeface="Andalus" panose="02020603050405020304" pitchFamily="18" charset="-78"/>
              </a:rPr>
              <a:t>ultimii</a:t>
            </a:r>
            <a:r>
              <a:rPr lang="en-GB" sz="3500" dirty="0" smtClean="0">
                <a:latin typeface="Calibri" panose="020F0502020204030204" pitchFamily="34" charset="0"/>
                <a:cs typeface="Andalus" panose="02020603050405020304" pitchFamily="18" charset="-78"/>
              </a:rPr>
              <a:t> 25 de </a:t>
            </a:r>
            <a:r>
              <a:rPr lang="en-GB" sz="3500" dirty="0" err="1" smtClean="0">
                <a:latin typeface="Calibri" panose="020F0502020204030204" pitchFamily="34" charset="0"/>
                <a:cs typeface="Andalus" panose="02020603050405020304" pitchFamily="18" charset="-78"/>
              </a:rPr>
              <a:t>ani</a:t>
            </a:r>
            <a:endParaRPr lang="en-GB" sz="3500" dirty="0">
              <a:latin typeface="Calibri" panose="020F0502020204030204" pitchFamily="34" charset="0"/>
              <a:cs typeface="Andalus" panose="02020603050405020304" pitchFamily="18" charset="-78"/>
            </a:endParaRPr>
          </a:p>
          <a:p>
            <a:endParaRPr lang="en-US" dirty="0"/>
          </a:p>
        </p:txBody>
      </p:sp>
      <p:sp>
        <p:nvSpPr>
          <p:cNvPr id="4" name="Titlu 1">
            <a:extLst>
              <a:ext uri="{FF2B5EF4-FFF2-40B4-BE49-F238E27FC236}">
                <a16:creationId xmlns:a16="http://schemas.microsoft.com/office/drawing/2014/main" xmlns="" id="{A7E43AF1-ABD0-4E72-B152-FFC3E98E5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2538" y="-246607"/>
            <a:ext cx="11018520" cy="1434415"/>
          </a:xfrm>
        </p:spPr>
        <p:txBody>
          <a:bodyPr anchor="b">
            <a:normAutofit/>
          </a:bodyPr>
          <a:lstStyle/>
          <a:p>
            <a:pPr algn="ctr"/>
            <a:r>
              <a:rPr lang="en-GB" sz="3600" dirty="0">
                <a:latin typeface="+mn-lt"/>
              </a:rPr>
              <a:t>De </a:t>
            </a:r>
            <a:r>
              <a:rPr lang="en-GB" sz="3600" dirty="0" err="1">
                <a:latin typeface="+mn-lt"/>
              </a:rPr>
              <a:t>ce</a:t>
            </a:r>
            <a:r>
              <a:rPr lang="en-GB" sz="3600" dirty="0">
                <a:latin typeface="+mn-lt"/>
              </a:rPr>
              <a:t> </a:t>
            </a:r>
            <a:r>
              <a:rPr lang="en-GB" sz="3600" dirty="0" err="1">
                <a:latin typeface="+mn-lt"/>
              </a:rPr>
              <a:t>apa</a:t>
            </a:r>
            <a:r>
              <a:rPr lang="en-GB" sz="3600" dirty="0">
                <a:latin typeface="+mn-lt"/>
              </a:rPr>
              <a:t> </a:t>
            </a:r>
            <a:r>
              <a:rPr lang="en-GB" sz="3600" dirty="0" err="1">
                <a:latin typeface="+mn-lt"/>
              </a:rPr>
              <a:t>Alcalina</a:t>
            </a:r>
            <a:r>
              <a:rPr lang="en-GB" sz="3600" dirty="0">
                <a:latin typeface="+mn-lt"/>
              </a:rPr>
              <a:t> BIO</a:t>
            </a:r>
            <a:endParaRPr lang="ro-RO" sz="3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71313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6780" y="222436"/>
            <a:ext cx="7886700" cy="1325563"/>
          </a:xfrm>
        </p:spPr>
        <p:txBody>
          <a:bodyPr>
            <a:normAutofit/>
          </a:bodyPr>
          <a:lstStyle/>
          <a:p>
            <a:pPr algn="r"/>
            <a:r>
              <a:rPr lang="en-GB" sz="3600" dirty="0">
                <a:latin typeface="+mn-lt"/>
              </a:rPr>
              <a:t>Exploatarea </a:t>
            </a:r>
            <a:r>
              <a:rPr lang="en-GB" sz="3600" dirty="0" err="1">
                <a:latin typeface="+mn-lt"/>
              </a:rPr>
              <a:t>capacitatilor</a:t>
            </a:r>
            <a:r>
              <a:rPr lang="en-GB" sz="3600" dirty="0">
                <a:latin typeface="+mn-lt"/>
              </a:rPr>
              <a:t> </a:t>
            </a:r>
            <a:r>
              <a:rPr lang="en-GB" sz="3600" dirty="0" err="1">
                <a:latin typeface="+mn-lt"/>
              </a:rPr>
              <a:t>existente</a:t>
            </a:r>
            <a:endParaRPr lang="en-US" sz="36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7280" y="1654396"/>
            <a:ext cx="4890573" cy="43670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</a:rPr>
              <a:t>Utilizarea </a:t>
            </a:r>
            <a:r>
              <a:rPr lang="en-US" dirty="0" err="1">
                <a:latin typeface="Calibri" panose="020F0502020204030204" pitchFamily="34" charset="0"/>
              </a:rPr>
              <a:t>facilitatilor</a:t>
            </a:r>
            <a:r>
              <a:rPr lang="en-US" dirty="0">
                <a:latin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</a:rPr>
              <a:t>existente</a:t>
            </a:r>
            <a:r>
              <a:rPr lang="en-US" dirty="0">
                <a:latin typeface="Calibri" panose="020F0502020204030204" pitchFamily="34" charset="0"/>
              </a:rPr>
              <a:t>, </a:t>
            </a:r>
            <a:r>
              <a:rPr lang="en-US" dirty="0" err="1">
                <a:latin typeface="Calibri" panose="020F0502020204030204" pitchFamily="34" charset="0"/>
              </a:rPr>
              <a:t>respectiv</a:t>
            </a:r>
            <a:r>
              <a:rPr lang="en-US" dirty="0">
                <a:latin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</a:rPr>
              <a:t>linia</a:t>
            </a:r>
            <a:r>
              <a:rPr lang="en-US" dirty="0">
                <a:latin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</a:rPr>
              <a:t>moderna</a:t>
            </a:r>
            <a:r>
              <a:rPr lang="en-US" dirty="0">
                <a:latin typeface="Calibri" panose="020F0502020204030204" pitchFamily="34" charset="0"/>
              </a:rPr>
              <a:t> de </a:t>
            </a:r>
            <a:r>
              <a:rPr lang="en-US" dirty="0" err="1">
                <a:latin typeface="Calibri" panose="020F0502020204030204" pitchFamily="34" charset="0"/>
              </a:rPr>
              <a:t>imbuteliere</a:t>
            </a:r>
            <a:r>
              <a:rPr lang="en-US" dirty="0">
                <a:latin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</a:rPr>
              <a:t>precum</a:t>
            </a:r>
            <a:r>
              <a:rPr lang="en-US" dirty="0">
                <a:latin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</a:rPr>
              <a:t>si</a:t>
            </a:r>
            <a:r>
              <a:rPr lang="en-US" dirty="0">
                <a:latin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</a:rPr>
              <a:t>extragerea</a:t>
            </a:r>
            <a:r>
              <a:rPr lang="en-US" dirty="0">
                <a:latin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</a:rPr>
              <a:t>apei</a:t>
            </a:r>
            <a:r>
              <a:rPr lang="en-US" dirty="0">
                <a:latin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</a:rPr>
              <a:t>alcalina</a:t>
            </a:r>
            <a:r>
              <a:rPr lang="en-US" dirty="0">
                <a:latin typeface="Calibri" panose="020F0502020204030204" pitchFamily="34" charset="0"/>
              </a:rPr>
              <a:t> din </a:t>
            </a:r>
            <a:r>
              <a:rPr lang="en-US" dirty="0" err="1">
                <a:latin typeface="Calibri" panose="020F0502020204030204" pitchFamily="34" charset="0"/>
              </a:rPr>
              <a:t>izvoarele</a:t>
            </a:r>
            <a:r>
              <a:rPr lang="en-US" dirty="0">
                <a:latin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</a:rPr>
              <a:t>Putnei</a:t>
            </a:r>
            <a:r>
              <a:rPr lang="en-US" dirty="0">
                <a:latin typeface="Calibri" panose="020F0502020204030204" pitchFamily="34" charset="0"/>
              </a:rPr>
              <a:t>, </a:t>
            </a:r>
            <a:r>
              <a:rPr lang="en-US" dirty="0" err="1">
                <a:latin typeface="Calibri" panose="020F0502020204030204" pitchFamily="34" charset="0"/>
              </a:rPr>
              <a:t>judetul</a:t>
            </a:r>
            <a:r>
              <a:rPr lang="en-US" dirty="0">
                <a:latin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</a:rPr>
              <a:t>Vrancea</a:t>
            </a:r>
            <a:r>
              <a:rPr lang="en-US" dirty="0">
                <a:latin typeface="Calibri" panose="020F0502020204030204" pitchFamily="34" charset="0"/>
              </a:rPr>
              <a:t>, a </a:t>
            </a:r>
            <a:r>
              <a:rPr lang="en-US" dirty="0" err="1">
                <a:latin typeface="Calibri" panose="020F0502020204030204" pitchFamily="34" charset="0"/>
              </a:rPr>
              <a:t>generat</a:t>
            </a:r>
            <a:r>
              <a:rPr lang="en-US" dirty="0">
                <a:latin typeface="Calibri" panose="020F0502020204030204" pitchFamily="34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</a:rPr>
              <a:t>Proiectul</a:t>
            </a:r>
            <a:r>
              <a:rPr lang="en-US" dirty="0" smtClean="0">
                <a:latin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</a:rPr>
              <a:t>GEIA, </a:t>
            </a:r>
            <a:r>
              <a:rPr lang="en-US" dirty="0" err="1">
                <a:latin typeface="Calibri" panose="020F0502020204030204" pitchFamily="34" charset="0"/>
              </a:rPr>
              <a:t>imbuteliere</a:t>
            </a:r>
            <a:r>
              <a:rPr lang="en-US" dirty="0">
                <a:latin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</a:rPr>
              <a:t>apa</a:t>
            </a:r>
            <a:r>
              <a:rPr lang="en-US" dirty="0">
                <a:latin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</a:rPr>
              <a:t>alcalina</a:t>
            </a:r>
            <a:r>
              <a:rPr lang="en-US" dirty="0">
                <a:latin typeface="Calibri" panose="020F0502020204030204" pitchFamily="34" charset="0"/>
              </a:rPr>
              <a:t> BIO.</a:t>
            </a:r>
          </a:p>
          <a:p>
            <a:endParaRPr lang="en-US" dirty="0"/>
          </a:p>
        </p:txBody>
      </p:sp>
      <p:pic>
        <p:nvPicPr>
          <p:cNvPr id="4" name="Substituent conținut 3">
            <a:extLst>
              <a:ext uri="{FF2B5EF4-FFF2-40B4-BE49-F238E27FC236}">
                <a16:creationId xmlns:a16="http://schemas.microsoft.com/office/drawing/2014/main" xmlns="" id="{273363D4-BE54-40A4-909B-F29C7C75B3F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2400" y="1598119"/>
            <a:ext cx="3053236" cy="2753902"/>
          </a:xfrm>
          <a:custGeom>
            <a:avLst/>
            <a:gdLst/>
            <a:ahLst/>
            <a:cxnLst/>
            <a:rect l="l" t="t" r="r" b="b"/>
            <a:pathLst>
              <a:path w="4041336" h="4193763">
                <a:moveTo>
                  <a:pt x="0" y="0"/>
                </a:moveTo>
                <a:lnTo>
                  <a:pt x="4019848" y="0"/>
                </a:lnTo>
                <a:lnTo>
                  <a:pt x="4021195" y="11419"/>
                </a:lnTo>
                <a:cubicBezTo>
                  <a:pt x="4036145" y="95184"/>
                  <a:pt x="4033611" y="180091"/>
                  <a:pt x="4037665" y="264364"/>
                </a:cubicBezTo>
                <a:cubicBezTo>
                  <a:pt x="4042480" y="367421"/>
                  <a:pt x="4036399" y="470858"/>
                  <a:pt x="4034118" y="574168"/>
                </a:cubicBezTo>
                <a:cubicBezTo>
                  <a:pt x="4032344" y="662121"/>
                  <a:pt x="4023602" y="749948"/>
                  <a:pt x="4026263" y="838028"/>
                </a:cubicBezTo>
                <a:cubicBezTo>
                  <a:pt x="4026453" y="841074"/>
                  <a:pt x="4026453" y="844120"/>
                  <a:pt x="4026263" y="847166"/>
                </a:cubicBezTo>
                <a:cubicBezTo>
                  <a:pt x="4018154" y="944003"/>
                  <a:pt x="4018154" y="1041348"/>
                  <a:pt x="4026263" y="1138186"/>
                </a:cubicBezTo>
                <a:cubicBezTo>
                  <a:pt x="4028835" y="1178494"/>
                  <a:pt x="4028113" y="1218943"/>
                  <a:pt x="4024109" y="1259137"/>
                </a:cubicBezTo>
                <a:cubicBezTo>
                  <a:pt x="4020308" y="1310285"/>
                  <a:pt x="4008145" y="1362194"/>
                  <a:pt x="4016887" y="1412960"/>
                </a:cubicBezTo>
                <a:cubicBezTo>
                  <a:pt x="4022576" y="1454780"/>
                  <a:pt x="4025705" y="1496916"/>
                  <a:pt x="4026263" y="1539116"/>
                </a:cubicBezTo>
                <a:cubicBezTo>
                  <a:pt x="4030697" y="1633542"/>
                  <a:pt x="4026516" y="1728475"/>
                  <a:pt x="4024869" y="1823155"/>
                </a:cubicBezTo>
                <a:cubicBezTo>
                  <a:pt x="4023095" y="1933446"/>
                  <a:pt x="4025883" y="2043737"/>
                  <a:pt x="4017014" y="2154154"/>
                </a:cubicBezTo>
                <a:cubicBezTo>
                  <a:pt x="4012136" y="2243351"/>
                  <a:pt x="4012136" y="2332751"/>
                  <a:pt x="4017014" y="2421948"/>
                </a:cubicBezTo>
                <a:cubicBezTo>
                  <a:pt x="4019421" y="2503683"/>
                  <a:pt x="4031711" y="2584656"/>
                  <a:pt x="4029684" y="2667279"/>
                </a:cubicBezTo>
                <a:cubicBezTo>
                  <a:pt x="4027276" y="2763608"/>
                  <a:pt x="4015874" y="2859684"/>
                  <a:pt x="4019421" y="2956268"/>
                </a:cubicBezTo>
                <a:cubicBezTo>
                  <a:pt x="4021068" y="3002339"/>
                  <a:pt x="4021195" y="3048410"/>
                  <a:pt x="4022082" y="3094480"/>
                </a:cubicBezTo>
                <a:cubicBezTo>
                  <a:pt x="4023222" y="3149943"/>
                  <a:pt x="4033231" y="3205278"/>
                  <a:pt x="4027656" y="3260614"/>
                </a:cubicBezTo>
                <a:cubicBezTo>
                  <a:pt x="4018408" y="3352883"/>
                  <a:pt x="3994462" y="3443628"/>
                  <a:pt x="4009412" y="3538181"/>
                </a:cubicBezTo>
                <a:cubicBezTo>
                  <a:pt x="4017647" y="3590217"/>
                  <a:pt x="4026896" y="3642380"/>
                  <a:pt x="4031711" y="3694923"/>
                </a:cubicBezTo>
                <a:cubicBezTo>
                  <a:pt x="4035892" y="3741882"/>
                  <a:pt x="4046407" y="3789603"/>
                  <a:pt x="4038425" y="3836308"/>
                </a:cubicBezTo>
                <a:cubicBezTo>
                  <a:pt x="4031584" y="3876287"/>
                  <a:pt x="4035131" y="3916266"/>
                  <a:pt x="4029810" y="3956245"/>
                </a:cubicBezTo>
                <a:cubicBezTo>
                  <a:pt x="4022842" y="4008661"/>
                  <a:pt x="4019168" y="4061966"/>
                  <a:pt x="4013847" y="4114764"/>
                </a:cubicBezTo>
                <a:lnTo>
                  <a:pt x="4010970" y="4161894"/>
                </a:lnTo>
                <a:lnTo>
                  <a:pt x="4002764" y="4161042"/>
                </a:lnTo>
                <a:cubicBezTo>
                  <a:pt x="3957904" y="4159210"/>
                  <a:pt x="3912934" y="4160186"/>
                  <a:pt x="3868108" y="4163980"/>
                </a:cubicBezTo>
                <a:cubicBezTo>
                  <a:pt x="3637072" y="4178737"/>
                  <a:pt x="3405779" y="4172076"/>
                  <a:pt x="3174741" y="4175341"/>
                </a:cubicBezTo>
                <a:cubicBezTo>
                  <a:pt x="2865668" y="4179782"/>
                  <a:pt x="2556851" y="4168420"/>
                  <a:pt x="2247906" y="4167376"/>
                </a:cubicBezTo>
                <a:cubicBezTo>
                  <a:pt x="2184582" y="4167115"/>
                  <a:pt x="2121002" y="4170510"/>
                  <a:pt x="2057934" y="4175733"/>
                </a:cubicBezTo>
                <a:cubicBezTo>
                  <a:pt x="1970560" y="4182786"/>
                  <a:pt x="1884336" y="4173905"/>
                  <a:pt x="1797729" y="4165547"/>
                </a:cubicBezTo>
                <a:cubicBezTo>
                  <a:pt x="1693340" y="4155492"/>
                  <a:pt x="1589207" y="4164372"/>
                  <a:pt x="1485458" y="4175995"/>
                </a:cubicBezTo>
                <a:cubicBezTo>
                  <a:pt x="1307344" y="4195571"/>
                  <a:pt x="1127888" y="4198979"/>
                  <a:pt x="949185" y="4186181"/>
                </a:cubicBezTo>
                <a:cubicBezTo>
                  <a:pt x="751793" y="4172468"/>
                  <a:pt x="554529" y="4174950"/>
                  <a:pt x="357136" y="4175995"/>
                </a:cubicBezTo>
                <a:lnTo>
                  <a:pt x="0" y="4175060"/>
                </a:lnTo>
                <a:close/>
              </a:path>
            </a:pathLst>
          </a:custGeom>
        </p:spPr>
      </p:pic>
      <p:pic>
        <p:nvPicPr>
          <p:cNvPr id="5" name="Imagine 5">
            <a:extLst>
              <a:ext uri="{FF2B5EF4-FFF2-40B4-BE49-F238E27FC236}">
                <a16:creationId xmlns:a16="http://schemas.microsoft.com/office/drawing/2014/main" xmlns="" id="{2A2C0DAE-F19E-4AC4-829D-221E63BE3FA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8191" y="4337800"/>
            <a:ext cx="3048154" cy="24026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46045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F0F3CAD-7914-4142-B656-A4C312FEA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8279" y="200261"/>
            <a:ext cx="5340958" cy="1325563"/>
          </a:xfrm>
        </p:spPr>
        <p:txBody>
          <a:bodyPr/>
          <a:lstStyle/>
          <a:p>
            <a:pPr algn="r"/>
            <a:r>
              <a:rPr lang="ro-RO" dirty="0">
                <a:latin typeface="+mn-lt"/>
              </a:rPr>
              <a:t>BRANDING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788DE52-C5D5-490E-984B-641332C46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137" y="1600807"/>
            <a:ext cx="845166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o-RO" dirty="0" smtClean="0"/>
              <a:t>2 produse cu </a:t>
            </a:r>
            <a:r>
              <a:rPr lang="ro-RO" dirty="0" smtClean="0"/>
              <a:t>mare potențial </a:t>
            </a:r>
            <a:r>
              <a:rPr lang="ro-RO" dirty="0" smtClean="0"/>
              <a:t>economic:</a:t>
            </a:r>
          </a:p>
          <a:p>
            <a:pPr marL="0" indent="0">
              <a:buNone/>
            </a:pPr>
            <a:endParaRPr lang="ro-RO" dirty="0"/>
          </a:p>
          <a:p>
            <a:pPr>
              <a:buFont typeface="Wingdings" panose="05000000000000000000" pitchFamily="2" charset="2"/>
              <a:buChar char="Ø"/>
            </a:pPr>
            <a:r>
              <a:rPr lang="ro-RO" dirty="0"/>
              <a:t>	</a:t>
            </a:r>
            <a:r>
              <a:rPr lang="en-US" b="1" dirty="0" err="1">
                <a:solidFill>
                  <a:srgbClr val="008000"/>
                </a:solidFill>
              </a:rPr>
              <a:t>Apa</a:t>
            </a:r>
            <a:r>
              <a:rPr lang="en-US" b="1" dirty="0">
                <a:solidFill>
                  <a:srgbClr val="008000"/>
                </a:solidFill>
              </a:rPr>
              <a:t> </a:t>
            </a:r>
            <a:r>
              <a:rPr lang="en-US" b="1" dirty="0" err="1">
                <a:solidFill>
                  <a:srgbClr val="008000"/>
                </a:solidFill>
              </a:rPr>
              <a:t>alcalin</a:t>
            </a:r>
            <a:r>
              <a:rPr lang="ro-RO" b="1" dirty="0">
                <a:solidFill>
                  <a:srgbClr val="008000"/>
                </a:solidFill>
              </a:rPr>
              <a:t>ă</a:t>
            </a:r>
            <a:r>
              <a:rPr lang="en-US" b="1" dirty="0">
                <a:solidFill>
                  <a:srgbClr val="008000"/>
                </a:solidFill>
              </a:rPr>
              <a:t> BIO</a:t>
            </a:r>
            <a:r>
              <a:rPr lang="en-US" dirty="0">
                <a:solidFill>
                  <a:srgbClr val="008000"/>
                </a:solidFill>
              </a:rPr>
              <a:t>:</a:t>
            </a:r>
          </a:p>
          <a:p>
            <a:pPr marL="0" indent="0">
              <a:buNone/>
            </a:pPr>
            <a:r>
              <a:rPr lang="en-US" dirty="0" err="1" smtClean="0"/>
              <a:t>Suntem</a:t>
            </a:r>
            <a:r>
              <a:rPr lang="en-US" dirty="0" smtClean="0"/>
              <a:t> </a:t>
            </a:r>
            <a:r>
              <a:rPr lang="ro-RO" dirty="0"/>
              <a:t>î</a:t>
            </a:r>
            <a:r>
              <a:rPr lang="en-US" dirty="0"/>
              <a:t>n </a:t>
            </a:r>
            <a:r>
              <a:rPr lang="en-US" dirty="0" err="1"/>
              <a:t>proces</a:t>
            </a:r>
            <a:r>
              <a:rPr lang="en-US" dirty="0"/>
              <a:t> de a </a:t>
            </a:r>
            <a:r>
              <a:rPr lang="en-US" dirty="0" err="1"/>
              <a:t>porni</a:t>
            </a:r>
            <a:r>
              <a:rPr lang="en-US" dirty="0"/>
              <a:t> </a:t>
            </a:r>
            <a:r>
              <a:rPr lang="en-US" dirty="0" err="1"/>
              <a:t>produc</a:t>
            </a:r>
            <a:r>
              <a:rPr lang="ro-RO" dirty="0"/>
              <a:t>ț</a:t>
            </a:r>
            <a:r>
              <a:rPr lang="en-US" dirty="0" err="1"/>
              <a:t>ia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un </a:t>
            </a:r>
            <a:r>
              <a:rPr lang="en-US" dirty="0" err="1"/>
              <a:t>nou</a:t>
            </a:r>
            <a:r>
              <a:rPr lang="en-US" dirty="0"/>
              <a:t> brand de ap</a:t>
            </a:r>
            <a:r>
              <a:rPr lang="ro-RO" dirty="0"/>
              <a:t>ă</a:t>
            </a:r>
            <a:r>
              <a:rPr lang="en-US" dirty="0"/>
              <a:t> </a:t>
            </a:r>
            <a:r>
              <a:rPr lang="en-US" dirty="0" err="1"/>
              <a:t>alcalin</a:t>
            </a:r>
            <a:r>
              <a:rPr lang="ro-RO" dirty="0"/>
              <a:t>ă</a:t>
            </a:r>
            <a:r>
              <a:rPr lang="en-US" dirty="0"/>
              <a:t> BIO – </a:t>
            </a:r>
            <a:r>
              <a:rPr lang="en-US" b="1" i="1" dirty="0"/>
              <a:t>G</a:t>
            </a:r>
            <a:r>
              <a:rPr lang="ro-RO" b="1" i="1" dirty="0" smtClean="0"/>
              <a:t>EIA</a:t>
            </a:r>
            <a:endParaRPr lang="en-US" b="1" i="1" dirty="0" smtClean="0"/>
          </a:p>
          <a:p>
            <a:pPr marL="0" indent="0">
              <a:buNone/>
            </a:pPr>
            <a:endParaRPr lang="ro-RO" b="1" i="1" dirty="0"/>
          </a:p>
          <a:p>
            <a:pPr>
              <a:buFont typeface="Wingdings" panose="05000000000000000000" pitchFamily="2" charset="2"/>
              <a:buChar char="Ø"/>
            </a:pPr>
            <a:r>
              <a:rPr lang="ro-RO" dirty="0"/>
              <a:t>	</a:t>
            </a:r>
            <a:r>
              <a:rPr lang="en-US" b="1" dirty="0" err="1">
                <a:solidFill>
                  <a:srgbClr val="008000"/>
                </a:solidFill>
              </a:rPr>
              <a:t>Sucuri</a:t>
            </a:r>
            <a:r>
              <a:rPr lang="en-US" b="1" dirty="0">
                <a:solidFill>
                  <a:srgbClr val="008000"/>
                </a:solidFill>
              </a:rPr>
              <a:t> </a:t>
            </a:r>
            <a:r>
              <a:rPr lang="ro-RO" b="1" dirty="0">
                <a:solidFill>
                  <a:srgbClr val="008000"/>
                </a:solidFill>
              </a:rPr>
              <a:t>ș</a:t>
            </a:r>
            <a:r>
              <a:rPr lang="en-US" b="1" dirty="0" err="1">
                <a:solidFill>
                  <a:srgbClr val="008000"/>
                </a:solidFill>
              </a:rPr>
              <a:t>i</a:t>
            </a:r>
            <a:r>
              <a:rPr lang="en-US" b="1" dirty="0">
                <a:solidFill>
                  <a:srgbClr val="008000"/>
                </a:solidFill>
              </a:rPr>
              <a:t> </a:t>
            </a:r>
            <a:r>
              <a:rPr lang="en-US" b="1" dirty="0" err="1">
                <a:solidFill>
                  <a:srgbClr val="008000"/>
                </a:solidFill>
              </a:rPr>
              <a:t>siropuri</a:t>
            </a:r>
            <a:r>
              <a:rPr lang="en-US" b="1" dirty="0">
                <a:solidFill>
                  <a:srgbClr val="008000"/>
                </a:solidFill>
              </a:rPr>
              <a:t> BIO din c</a:t>
            </a:r>
            <a:r>
              <a:rPr lang="ro-RO" b="1" dirty="0">
                <a:solidFill>
                  <a:srgbClr val="008000"/>
                </a:solidFill>
              </a:rPr>
              <a:t>ă</a:t>
            </a:r>
            <a:r>
              <a:rPr lang="en-US" b="1" dirty="0">
                <a:solidFill>
                  <a:srgbClr val="008000"/>
                </a:solidFill>
              </a:rPr>
              <a:t>tin</a:t>
            </a:r>
            <a:r>
              <a:rPr lang="ro-RO" b="1" dirty="0">
                <a:solidFill>
                  <a:srgbClr val="008000"/>
                </a:solidFill>
              </a:rPr>
              <a:t>ă</a:t>
            </a:r>
            <a:r>
              <a:rPr lang="en-US" b="1" dirty="0">
                <a:solidFill>
                  <a:srgbClr val="008000"/>
                </a:solidFill>
              </a:rPr>
              <a:t>:</a:t>
            </a:r>
          </a:p>
          <a:p>
            <a:pPr marL="0" indent="0">
              <a:buNone/>
            </a:pPr>
            <a:r>
              <a:rPr lang="ro-RO" dirty="0"/>
              <a:t> </a:t>
            </a:r>
            <a:r>
              <a:rPr lang="en-US" dirty="0" err="1"/>
              <a:t>Lucr</a:t>
            </a:r>
            <a:r>
              <a:rPr lang="ro-RO" dirty="0"/>
              <a:t>ă</a:t>
            </a:r>
            <a:r>
              <a:rPr lang="en-US" dirty="0"/>
              <a:t>m la un </a:t>
            </a:r>
            <a:r>
              <a:rPr lang="en-US" dirty="0" err="1"/>
              <a:t>nou</a:t>
            </a:r>
            <a:r>
              <a:rPr lang="en-US" dirty="0"/>
              <a:t> brand de </a:t>
            </a:r>
            <a:r>
              <a:rPr lang="en-US" dirty="0" err="1"/>
              <a:t>sucuri</a:t>
            </a:r>
            <a:r>
              <a:rPr lang="en-US" dirty="0"/>
              <a:t> </a:t>
            </a:r>
            <a:r>
              <a:rPr lang="ro-RO" dirty="0"/>
              <a:t>ș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siropuri</a:t>
            </a:r>
            <a:r>
              <a:rPr lang="en-US" dirty="0"/>
              <a:t> BIO din c</a:t>
            </a:r>
            <a:r>
              <a:rPr lang="ro-RO" dirty="0"/>
              <a:t>ă</a:t>
            </a:r>
            <a:r>
              <a:rPr lang="en-US" dirty="0"/>
              <a:t>tin</a:t>
            </a:r>
            <a:r>
              <a:rPr lang="ro-RO" dirty="0"/>
              <a:t>ă</a:t>
            </a:r>
            <a:r>
              <a:rPr lang="en-US" dirty="0"/>
              <a:t> </a:t>
            </a:r>
            <a:r>
              <a:rPr lang="en-US" dirty="0" err="1" smtClean="0"/>
              <a:t>pur</a:t>
            </a:r>
            <a:r>
              <a:rPr lang="ro-RO" dirty="0" smtClean="0"/>
              <a:t>ă sau în amestec cu alte fructe/plante </a:t>
            </a:r>
            <a:r>
              <a:rPr lang="en-US" dirty="0" smtClean="0"/>
              <a:t>- </a:t>
            </a:r>
            <a:r>
              <a:rPr lang="en-US" b="1" i="1" dirty="0"/>
              <a:t>ELIKSIR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7163889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xmlns="" id="{ED7B31F9-ADB6-4271-A994-1CDA292E9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5685" y="116552"/>
            <a:ext cx="6136388" cy="1325563"/>
          </a:xfrm>
        </p:spPr>
        <p:txBody>
          <a:bodyPr/>
          <a:lstStyle/>
          <a:p>
            <a:pPr algn="r"/>
            <a:r>
              <a:rPr lang="ro-RO" dirty="0">
                <a:latin typeface="+mn-lt"/>
              </a:rPr>
              <a:t>APA ALCALINĂ </a:t>
            </a:r>
            <a:r>
              <a:rPr lang="ro-RO" b="1" i="1" dirty="0">
                <a:solidFill>
                  <a:srgbClr val="0000FF"/>
                </a:solidFill>
                <a:latin typeface="+mn-lt"/>
              </a:rPr>
              <a:t>GEIA</a:t>
            </a:r>
            <a:endParaRPr lang="ro-RO" b="1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xmlns="" id="{D96BD0D6-5B02-40F5-975F-5317147D3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034" y="1645920"/>
            <a:ext cx="4754880" cy="4674981"/>
          </a:xfrm>
        </p:spPr>
        <p:txBody>
          <a:bodyPr>
            <a:normAutofit fontScale="92500" lnSpcReduction="10000"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ro-RO" sz="2000" dirty="0"/>
              <a:t>Dragostea pentru natură ne ajută să ne fim atenți la sănătatea noastră – tocmai de aceea am creat </a:t>
            </a:r>
            <a:r>
              <a:rPr lang="ro-RO" sz="2000" u="sng" dirty="0"/>
              <a:t>apa alcalină </a:t>
            </a:r>
            <a:r>
              <a:rPr lang="ro-RO" sz="2000" i="1" dirty="0"/>
              <a:t>GEIA</a:t>
            </a:r>
            <a:r>
              <a:rPr lang="ro-RO" sz="2000" dirty="0"/>
              <a:t>.</a:t>
            </a:r>
            <a:endParaRPr lang="ro-RO" sz="2000" dirty="0"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endParaRPr lang="ro-RO" sz="1400" dirty="0"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GB" sz="2000" dirty="0" err="1">
                <a:ea typeface="Times New Roman" panose="02020603050405020304" pitchFamily="18" charset="0"/>
              </a:rPr>
              <a:t>Provenien</a:t>
            </a:r>
            <a:r>
              <a:rPr lang="ro-RO" sz="2000" dirty="0">
                <a:ea typeface="Times New Roman" panose="02020603050405020304" pitchFamily="18" charset="0"/>
              </a:rPr>
              <a:t>ță</a:t>
            </a:r>
            <a:r>
              <a:rPr lang="en-GB" sz="2000" dirty="0">
                <a:ea typeface="Times New Roman" panose="02020603050405020304" pitchFamily="18" charset="0"/>
              </a:rPr>
              <a:t>: </a:t>
            </a:r>
            <a:r>
              <a:rPr lang="en-GB" sz="2000" dirty="0" err="1">
                <a:ea typeface="Times New Roman" panose="02020603050405020304" pitchFamily="18" charset="0"/>
              </a:rPr>
              <a:t>Izvoarele</a:t>
            </a:r>
            <a:r>
              <a:rPr lang="en-GB" sz="2000" dirty="0">
                <a:ea typeface="Times New Roman" panose="02020603050405020304" pitchFamily="18" charset="0"/>
              </a:rPr>
              <a:t> </a:t>
            </a:r>
            <a:r>
              <a:rPr lang="en-GB" sz="2000" dirty="0" err="1">
                <a:ea typeface="Times New Roman" panose="02020603050405020304" pitchFamily="18" charset="0"/>
              </a:rPr>
              <a:t>Putnei</a:t>
            </a:r>
            <a:r>
              <a:rPr lang="ro-RO" sz="2000" dirty="0">
                <a:ea typeface="Times New Roman" panose="02020603050405020304" pitchFamily="18" charset="0"/>
              </a:rPr>
              <a:t>,</a:t>
            </a:r>
            <a:r>
              <a:rPr lang="en-GB" sz="2000" dirty="0">
                <a:ea typeface="Times New Roman" panose="02020603050405020304" pitchFamily="18" charset="0"/>
              </a:rPr>
              <a:t> Jude</a:t>
            </a:r>
            <a:r>
              <a:rPr lang="ro-RO" sz="2000" dirty="0">
                <a:ea typeface="Times New Roman" panose="02020603050405020304" pitchFamily="18" charset="0"/>
              </a:rPr>
              <a:t>ț</a:t>
            </a:r>
            <a:r>
              <a:rPr lang="en-GB" sz="2000" dirty="0" err="1">
                <a:ea typeface="Times New Roman" panose="02020603050405020304" pitchFamily="18" charset="0"/>
              </a:rPr>
              <a:t>ul</a:t>
            </a:r>
            <a:r>
              <a:rPr lang="en-GB" sz="2000" dirty="0">
                <a:ea typeface="Times New Roman" panose="02020603050405020304" pitchFamily="18" charset="0"/>
              </a:rPr>
              <a:t> </a:t>
            </a:r>
            <a:r>
              <a:rPr lang="en-GB" sz="2000" dirty="0" err="1" smtClean="0">
                <a:ea typeface="Times New Roman" panose="02020603050405020304" pitchFamily="18" charset="0"/>
              </a:rPr>
              <a:t>Vrancea</a:t>
            </a:r>
            <a:endParaRPr lang="ro-RO" sz="2000" dirty="0" smtClean="0"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endParaRPr lang="ro-RO" sz="1500" dirty="0" smtClean="0"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o-RO" sz="2000" dirty="0" smtClean="0">
                <a:ea typeface="Calibri" panose="020F0502020204030204" pitchFamily="34" charset="0"/>
              </a:rPr>
              <a:t>Adâncimea de extracție: 120 m</a:t>
            </a:r>
          </a:p>
          <a:p>
            <a:pPr marL="0" indent="0">
              <a:spcAft>
                <a:spcPts val="0"/>
              </a:spcAft>
              <a:buNone/>
            </a:pPr>
            <a:endParaRPr lang="en-GB" sz="1500" dirty="0">
              <a:ea typeface="Calibri" panose="020F0502020204030204" pitchFamily="34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GB" sz="2000" dirty="0">
                <a:ea typeface="Times New Roman" panose="02020603050405020304" pitchFamily="18" charset="0"/>
              </a:rPr>
              <a:t>Nivel PH: 7,9 – </a:t>
            </a:r>
            <a:r>
              <a:rPr lang="en-GB" sz="2000" dirty="0" err="1">
                <a:ea typeface="Times New Roman" panose="02020603050405020304" pitchFamily="18" charset="0"/>
              </a:rPr>
              <a:t>intr</a:t>
            </a:r>
            <a:r>
              <a:rPr lang="ro-RO" sz="2000" dirty="0">
                <a:ea typeface="Times New Roman" panose="02020603050405020304" pitchFamily="18" charset="0"/>
              </a:rPr>
              <a:t>ă</a:t>
            </a:r>
            <a:r>
              <a:rPr lang="en-GB" sz="2000" dirty="0">
                <a:ea typeface="Times New Roman" panose="02020603050405020304" pitchFamily="18" charset="0"/>
              </a:rPr>
              <a:t> </a:t>
            </a:r>
            <a:r>
              <a:rPr lang="ro-RO" sz="2000" dirty="0">
                <a:ea typeface="Times New Roman" panose="02020603050405020304" pitchFamily="18" charset="0"/>
              </a:rPr>
              <a:t>î</a:t>
            </a:r>
            <a:r>
              <a:rPr lang="en-GB" sz="2000" dirty="0">
                <a:ea typeface="Times New Roman" panose="02020603050405020304" pitchFamily="18" charset="0"/>
              </a:rPr>
              <a:t>n </a:t>
            </a:r>
            <a:r>
              <a:rPr lang="en-GB" sz="2000" dirty="0" err="1">
                <a:ea typeface="Times New Roman" panose="02020603050405020304" pitchFamily="18" charset="0"/>
              </a:rPr>
              <a:t>categoria</a:t>
            </a:r>
            <a:r>
              <a:rPr lang="en-GB" sz="2000" dirty="0">
                <a:ea typeface="Times New Roman" panose="02020603050405020304" pitchFamily="18" charset="0"/>
              </a:rPr>
              <a:t> </a:t>
            </a:r>
            <a:r>
              <a:rPr lang="en-GB" sz="2000" dirty="0" err="1">
                <a:ea typeface="Times New Roman" panose="02020603050405020304" pitchFamily="18" charset="0"/>
              </a:rPr>
              <a:t>apelor</a:t>
            </a:r>
            <a:r>
              <a:rPr lang="en-GB" sz="2000" dirty="0">
                <a:ea typeface="Times New Roman" panose="02020603050405020304" pitchFamily="18" charset="0"/>
              </a:rPr>
              <a:t> </a:t>
            </a:r>
            <a:r>
              <a:rPr lang="en-GB" sz="2000" dirty="0" err="1">
                <a:ea typeface="Times New Roman" panose="02020603050405020304" pitchFamily="18" charset="0"/>
              </a:rPr>
              <a:t>alcaline</a:t>
            </a:r>
            <a:r>
              <a:rPr lang="en-GB" sz="2000" dirty="0">
                <a:ea typeface="Times New Roman" panose="02020603050405020304" pitchFamily="18" charset="0"/>
              </a:rPr>
              <a:t> </a:t>
            </a:r>
            <a:r>
              <a:rPr lang="ro-RO" sz="2000" dirty="0">
                <a:ea typeface="Times New Roman" panose="02020603050405020304" pitchFamily="18" charset="0"/>
              </a:rPr>
              <a:t>ș</a:t>
            </a:r>
            <a:r>
              <a:rPr lang="en-GB" sz="2000" dirty="0" err="1">
                <a:ea typeface="Times New Roman" panose="02020603050405020304" pitchFamily="18" charset="0"/>
              </a:rPr>
              <a:t>i</a:t>
            </a:r>
            <a:r>
              <a:rPr lang="en-GB" sz="2000" dirty="0">
                <a:ea typeface="Times New Roman" panose="02020603050405020304" pitchFamily="18" charset="0"/>
              </a:rPr>
              <a:t> </a:t>
            </a:r>
            <a:r>
              <a:rPr lang="en-GB" sz="2000" dirty="0" err="1">
                <a:ea typeface="Times New Roman" panose="02020603050405020304" pitchFamily="18" charset="0"/>
              </a:rPr>
              <a:t>este</a:t>
            </a:r>
            <a:r>
              <a:rPr lang="en-GB" sz="2000" dirty="0">
                <a:ea typeface="Times New Roman" panose="02020603050405020304" pitchFamily="18" charset="0"/>
              </a:rPr>
              <a:t> </a:t>
            </a:r>
            <a:r>
              <a:rPr lang="en-GB" sz="2000" dirty="0" err="1">
                <a:ea typeface="Times New Roman" panose="02020603050405020304" pitchFamily="18" charset="0"/>
              </a:rPr>
              <a:t>complet</a:t>
            </a:r>
            <a:r>
              <a:rPr lang="en-GB" sz="2000" dirty="0">
                <a:ea typeface="Times New Roman" panose="02020603050405020304" pitchFamily="18" charset="0"/>
              </a:rPr>
              <a:t> natural</a:t>
            </a:r>
            <a:r>
              <a:rPr lang="ro-RO" sz="2000" dirty="0">
                <a:ea typeface="Times New Roman" panose="02020603050405020304" pitchFamily="18" charset="0"/>
              </a:rPr>
              <a:t>ă</a:t>
            </a:r>
            <a:endParaRPr lang="en-US" sz="2000" dirty="0"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endParaRPr lang="en-GB" sz="1500" dirty="0">
              <a:ea typeface="Calibri" panose="020F0502020204030204" pitchFamily="34" charset="0"/>
            </a:endParaRPr>
          </a:p>
          <a:p>
            <a:pPr marL="0" indent="0">
              <a:buNone/>
            </a:pPr>
            <a:r>
              <a:rPr lang="ro-RO" sz="2000" dirty="0"/>
              <a:t>Apa alcalină are reale beneficii pentru sănătate, </a:t>
            </a:r>
            <a:r>
              <a:rPr lang="it-IT" sz="2000" dirty="0"/>
              <a:t>sprijin</a:t>
            </a:r>
            <a:r>
              <a:rPr lang="ro-RO" sz="2000" dirty="0"/>
              <a:t>ind</a:t>
            </a:r>
            <a:r>
              <a:rPr lang="it-IT" sz="2000" dirty="0"/>
              <a:t> func</a:t>
            </a:r>
            <a:r>
              <a:rPr lang="ro-RO" sz="2000" dirty="0"/>
              <a:t>ț</a:t>
            </a:r>
            <a:r>
              <a:rPr lang="it-IT" sz="2000" dirty="0"/>
              <a:t>ionarea corect</a:t>
            </a:r>
            <a:r>
              <a:rPr lang="ro-RO" sz="2000" dirty="0"/>
              <a:t>ă</a:t>
            </a:r>
            <a:r>
              <a:rPr lang="it-IT" sz="2000" dirty="0"/>
              <a:t> a organismului prin hidratarea corespunz</a:t>
            </a:r>
            <a:r>
              <a:rPr lang="ro-RO" sz="2000" dirty="0"/>
              <a:t>ă</a:t>
            </a:r>
            <a:r>
              <a:rPr lang="it-IT" sz="2000" dirty="0"/>
              <a:t>toare</a:t>
            </a:r>
            <a:r>
              <a:rPr lang="ro-RO" sz="2000" dirty="0"/>
              <a:t> a acestuia. </a:t>
            </a:r>
          </a:p>
          <a:p>
            <a:endParaRPr lang="ro-RO" sz="2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327BC06E-E873-4F4C-90BB-025CB163D3A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89000" y="1640926"/>
            <a:ext cx="2183395" cy="423786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870792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05475EB-6379-4F4E-9A0B-C390C6785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537" y="169817"/>
            <a:ext cx="7219211" cy="1325563"/>
          </a:xfrm>
        </p:spPr>
        <p:txBody>
          <a:bodyPr>
            <a:normAutofit/>
          </a:bodyPr>
          <a:lstStyle/>
          <a:p>
            <a:pPr algn="r"/>
            <a:r>
              <a:rPr lang="ro-RO" sz="4000" dirty="0">
                <a:latin typeface="+mn-lt"/>
              </a:rPr>
              <a:t>SUCUL DE CĂTINĂ </a:t>
            </a:r>
            <a:r>
              <a:rPr lang="ro-RO" sz="4000" b="1" i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ELIKSIR</a:t>
            </a:r>
            <a:endParaRPr lang="ro-RO" sz="4000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70689806-9275-4E9D-805E-D2C4D776FF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62305" y="1674037"/>
            <a:ext cx="2194140" cy="45186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FBE73C18-F984-46BD-A4EE-78D1460F67FB}"/>
              </a:ext>
            </a:extLst>
          </p:cNvPr>
          <p:cNvSpPr txBox="1"/>
          <p:nvPr/>
        </p:nvSpPr>
        <p:spPr>
          <a:xfrm>
            <a:off x="976543" y="1560613"/>
            <a:ext cx="4270159" cy="5078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>
                <a:latin typeface="Bahnschrift Light SemiCondensed" panose="020B0502040204020203" pitchFamily="34" charset="0"/>
              </a:rPr>
              <a:t>Sucul de cătină este unul dintre cele mai căutate și mai apreciate, când vine vorba de beneficiile pe care le oferă organismului. De aceea, am ales să numim acest produs </a:t>
            </a:r>
            <a:r>
              <a:rPr lang="ro-RO" i="1" dirty="0">
                <a:latin typeface="Bahnschrift Light SemiCondensed" panose="020B0502040204020203" pitchFamily="34" charset="0"/>
              </a:rPr>
              <a:t>Eliksir</a:t>
            </a:r>
            <a:r>
              <a:rPr lang="ro-RO" dirty="0">
                <a:latin typeface="Bahnschrift Light SemiCondensed" panose="020B0502040204020203" pitchFamily="34" charset="0"/>
              </a:rPr>
              <a:t>.</a:t>
            </a:r>
          </a:p>
          <a:p>
            <a:r>
              <a:rPr lang="ro-RO" dirty="0">
                <a:latin typeface="Bahnschrift Light SemiCondensed" panose="020B0502040204020203" pitchFamily="34" charset="0"/>
              </a:rPr>
              <a:t>Dacă ar fi să enumerăm câteva dintre beneficiile sucului de cătină, printre ele am regăsi </a:t>
            </a:r>
            <a:r>
              <a:rPr lang="ro-RO" dirty="0" smtClean="0">
                <a:latin typeface="Bahnschrift Light SemiCondensed" panose="020B0502040204020203" pitchFamily="34" charset="0"/>
              </a:rPr>
              <a:t>proprietăți:</a:t>
            </a:r>
          </a:p>
          <a:p>
            <a:endParaRPr lang="ro-RO" dirty="0" smtClean="0">
              <a:latin typeface="Bahnschrift Light SemiCondensed" panose="020B0502040204020203" pitchFamily="34" charset="0"/>
            </a:endParaRPr>
          </a:p>
          <a:p>
            <a:r>
              <a:rPr lang="ro-RO" dirty="0" smtClean="0">
                <a:latin typeface="Bahnschrift Light SemiCondensed" panose="020B0502040204020203" pitchFamily="34" charset="0"/>
              </a:rPr>
              <a:t>Vitaminizante</a:t>
            </a:r>
            <a:endParaRPr lang="ro-RO" dirty="0">
              <a:latin typeface="Bahnschrift Light SemiCondensed" panose="020B0502040204020203" pitchFamily="34" charset="0"/>
            </a:endParaRPr>
          </a:p>
          <a:p>
            <a:r>
              <a:rPr lang="ro-RO" dirty="0" smtClean="0">
                <a:latin typeface="Bahnschrift Light SemiCondensed" panose="020B0502040204020203" pitchFamily="34" charset="0"/>
              </a:rPr>
              <a:t>Depurative</a:t>
            </a:r>
            <a:endParaRPr lang="ro-RO" dirty="0">
              <a:latin typeface="Bahnschrift Light SemiCondensed" panose="020B0502040204020203" pitchFamily="34" charset="0"/>
            </a:endParaRPr>
          </a:p>
          <a:p>
            <a:r>
              <a:rPr lang="ro-RO" dirty="0" smtClean="0">
                <a:latin typeface="Bahnschrift Light SemiCondensed" panose="020B0502040204020203" pitchFamily="34" charset="0"/>
              </a:rPr>
              <a:t>Imunostimulatoare</a:t>
            </a:r>
            <a:endParaRPr lang="ro-RO" dirty="0">
              <a:latin typeface="Bahnschrift Light SemiCondensed" panose="020B0502040204020203" pitchFamily="34" charset="0"/>
            </a:endParaRPr>
          </a:p>
          <a:p>
            <a:r>
              <a:rPr lang="ro-RO" dirty="0" smtClean="0">
                <a:latin typeface="Bahnschrift Light SemiCondensed" panose="020B0502040204020203" pitchFamily="34" charset="0"/>
              </a:rPr>
              <a:t>Antioxidante</a:t>
            </a:r>
            <a:endParaRPr lang="ro-RO" dirty="0">
              <a:latin typeface="Bahnschrift Light SemiCondensed" panose="020B0502040204020203" pitchFamily="34" charset="0"/>
            </a:endParaRPr>
          </a:p>
          <a:p>
            <a:r>
              <a:rPr lang="ro-RO" dirty="0" smtClean="0">
                <a:latin typeface="Bahnschrift Light SemiCondensed" panose="020B0502040204020203" pitchFamily="34" charset="0"/>
              </a:rPr>
              <a:t>Antiinflamatoare</a:t>
            </a:r>
            <a:endParaRPr lang="ro-RO" dirty="0">
              <a:latin typeface="Bahnschrift Light SemiCondensed" panose="020B0502040204020203" pitchFamily="34" charset="0"/>
            </a:endParaRPr>
          </a:p>
          <a:p>
            <a:r>
              <a:rPr lang="ro-RO" dirty="0" smtClean="0">
                <a:latin typeface="Bahnschrift Light SemiCondensed" panose="020B0502040204020203" pitchFamily="34" charset="0"/>
              </a:rPr>
              <a:t>Cicatrizante</a:t>
            </a:r>
            <a:endParaRPr lang="ro-RO" dirty="0">
              <a:latin typeface="Bahnschrift Light SemiCondensed" panose="020B0502040204020203" pitchFamily="34" charset="0"/>
            </a:endParaRPr>
          </a:p>
          <a:p>
            <a:r>
              <a:rPr lang="ro-RO" dirty="0" smtClean="0">
                <a:latin typeface="Bahnschrift Light SemiCondensed" panose="020B0502040204020203" pitchFamily="34" charset="0"/>
              </a:rPr>
              <a:t>Emoliente</a:t>
            </a:r>
            <a:endParaRPr lang="ro-RO" dirty="0">
              <a:latin typeface="Bahnschrift Light SemiCondensed" panose="020B0502040204020203" pitchFamily="34" charset="0"/>
            </a:endParaRPr>
          </a:p>
          <a:p>
            <a:r>
              <a:rPr lang="ro-RO" dirty="0" smtClean="0">
                <a:latin typeface="Bahnschrift Light SemiCondensed" panose="020B0502040204020203" pitchFamily="34" charset="0"/>
              </a:rPr>
              <a:t>Citoprotectoare</a:t>
            </a:r>
            <a:endParaRPr lang="ro-RO" dirty="0">
              <a:latin typeface="Bahnschrift Light SemiCondensed" panose="020B0502040204020203" pitchFamily="34" charset="0"/>
            </a:endParaRPr>
          </a:p>
          <a:p>
            <a:endParaRPr lang="ro-RO" dirty="0">
              <a:latin typeface="Bahnschrift Light Semi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19682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461499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sz="6600" b="1" dirty="0" smtClean="0">
                <a:solidFill>
                  <a:schemeClr val="bg1">
                    <a:lumMod val="95000"/>
                  </a:schemeClr>
                </a:solidFill>
                <a:latin typeface="+mn-lt"/>
              </a:rPr>
              <a:t>PROIECT GEIA:</a:t>
            </a:r>
            <a:endParaRPr lang="en-US" sz="6600" b="1" dirty="0">
              <a:solidFill>
                <a:schemeClr val="bg1">
                  <a:lumMod val="9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915105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1051" y="94015"/>
            <a:ext cx="7886700" cy="1325563"/>
          </a:xfrm>
        </p:spPr>
        <p:txBody>
          <a:bodyPr/>
          <a:lstStyle/>
          <a:p>
            <a:pPr algn="r"/>
            <a:r>
              <a:rPr lang="en-GB" dirty="0">
                <a:latin typeface="+mn-lt"/>
              </a:rPr>
              <a:t>Proiect GEIA</a:t>
            </a:r>
            <a:endParaRPr lang="en-US" dirty="0">
              <a:latin typeface="+mn-lt"/>
            </a:endParaRPr>
          </a:p>
        </p:txBody>
      </p:sp>
      <p:sp>
        <p:nvSpPr>
          <p:cNvPr id="5" name="Substituent conținut 2">
            <a:extLst>
              <a:ext uri="{FF2B5EF4-FFF2-40B4-BE49-F238E27FC236}">
                <a16:creationId xmlns:a16="http://schemas.microsoft.com/office/drawing/2014/main" xmlns="" id="{39C4E650-0177-4194-82B2-EA6246CD83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1534" y="2213713"/>
            <a:ext cx="6452466" cy="3316528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spcAft>
                <a:spcPts val="0"/>
              </a:spcAft>
              <a:buNone/>
            </a:pPr>
            <a:r>
              <a:rPr lang="en-GB" sz="2400" dirty="0" err="1">
                <a:ea typeface="Times New Roman" panose="02020603050405020304" pitchFamily="18" charset="0"/>
              </a:rPr>
              <a:t>Provenien</a:t>
            </a:r>
            <a:r>
              <a:rPr lang="ro-RO" sz="2400" dirty="0" err="1">
                <a:ea typeface="Times New Roman" panose="02020603050405020304" pitchFamily="18" charset="0"/>
              </a:rPr>
              <a:t>ță</a:t>
            </a:r>
            <a:r>
              <a:rPr lang="en-GB" sz="2400" dirty="0">
                <a:ea typeface="Times New Roman" panose="02020603050405020304" pitchFamily="18" charset="0"/>
              </a:rPr>
              <a:t>: </a:t>
            </a:r>
            <a:r>
              <a:rPr lang="en-GB" sz="2400" dirty="0" err="1">
                <a:ea typeface="Times New Roman" panose="02020603050405020304" pitchFamily="18" charset="0"/>
              </a:rPr>
              <a:t>Izvoarele</a:t>
            </a:r>
            <a:r>
              <a:rPr lang="en-GB" sz="2400" dirty="0">
                <a:ea typeface="Times New Roman" panose="02020603050405020304" pitchFamily="18" charset="0"/>
              </a:rPr>
              <a:t> </a:t>
            </a:r>
            <a:r>
              <a:rPr lang="en-GB" sz="2400" dirty="0" err="1">
                <a:ea typeface="Times New Roman" panose="02020603050405020304" pitchFamily="18" charset="0"/>
              </a:rPr>
              <a:t>Putnei</a:t>
            </a:r>
            <a:r>
              <a:rPr lang="ro-RO" sz="2400" dirty="0">
                <a:ea typeface="Times New Roman" panose="02020603050405020304" pitchFamily="18" charset="0"/>
              </a:rPr>
              <a:t>,</a:t>
            </a:r>
            <a:r>
              <a:rPr lang="en-GB" sz="2400" dirty="0">
                <a:ea typeface="Times New Roman" panose="02020603050405020304" pitchFamily="18" charset="0"/>
              </a:rPr>
              <a:t> Jude</a:t>
            </a:r>
            <a:r>
              <a:rPr lang="ro-RO" sz="2400" dirty="0">
                <a:ea typeface="Times New Roman" panose="02020603050405020304" pitchFamily="18" charset="0"/>
              </a:rPr>
              <a:t>ț</a:t>
            </a:r>
            <a:r>
              <a:rPr lang="en-GB" sz="2400" dirty="0" err="1">
                <a:ea typeface="Times New Roman" panose="02020603050405020304" pitchFamily="18" charset="0"/>
              </a:rPr>
              <a:t>ul</a:t>
            </a:r>
            <a:r>
              <a:rPr lang="en-GB" sz="2400" dirty="0">
                <a:ea typeface="Times New Roman" panose="02020603050405020304" pitchFamily="18" charset="0"/>
              </a:rPr>
              <a:t> </a:t>
            </a:r>
            <a:r>
              <a:rPr lang="en-GB" sz="2400" dirty="0" err="1" smtClean="0">
                <a:ea typeface="Times New Roman" panose="02020603050405020304" pitchFamily="18" charset="0"/>
              </a:rPr>
              <a:t>Vrancea</a:t>
            </a:r>
            <a:endParaRPr lang="ro-RO" sz="2400" dirty="0" smtClean="0">
              <a:ea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spcAft>
                <a:spcPts val="0"/>
              </a:spcAft>
              <a:buNone/>
            </a:pPr>
            <a:endParaRPr lang="en-GB" sz="1400" dirty="0">
              <a:ea typeface="Calibri" panose="020F0502020204030204" pitchFamily="34" charset="0"/>
            </a:endParaRPr>
          </a:p>
          <a:p>
            <a:pPr marL="0" indent="0">
              <a:lnSpc>
                <a:spcPct val="90000"/>
              </a:lnSpc>
              <a:spcAft>
                <a:spcPts val="0"/>
              </a:spcAft>
              <a:buNone/>
            </a:pPr>
            <a:r>
              <a:rPr lang="en-GB" sz="2400" dirty="0">
                <a:ea typeface="Times New Roman" panose="02020603050405020304" pitchFamily="18" charset="0"/>
              </a:rPr>
              <a:t>Nivel PH: 7,9 – </a:t>
            </a:r>
            <a:r>
              <a:rPr lang="en-GB" sz="2400" dirty="0" err="1">
                <a:ea typeface="Times New Roman" panose="02020603050405020304" pitchFamily="18" charset="0"/>
              </a:rPr>
              <a:t>intr</a:t>
            </a:r>
            <a:r>
              <a:rPr lang="ro-RO" sz="2400" dirty="0">
                <a:ea typeface="Times New Roman" panose="02020603050405020304" pitchFamily="18" charset="0"/>
              </a:rPr>
              <a:t>ă</a:t>
            </a:r>
            <a:r>
              <a:rPr lang="en-GB" sz="2400" dirty="0">
                <a:ea typeface="Times New Roman" panose="02020603050405020304" pitchFamily="18" charset="0"/>
              </a:rPr>
              <a:t> </a:t>
            </a:r>
            <a:r>
              <a:rPr lang="ro-RO" sz="2400" dirty="0">
                <a:ea typeface="Times New Roman" panose="02020603050405020304" pitchFamily="18" charset="0"/>
              </a:rPr>
              <a:t>î</a:t>
            </a:r>
            <a:r>
              <a:rPr lang="en-GB" sz="2400" dirty="0">
                <a:ea typeface="Times New Roman" panose="02020603050405020304" pitchFamily="18" charset="0"/>
              </a:rPr>
              <a:t>n </a:t>
            </a:r>
            <a:r>
              <a:rPr lang="en-GB" sz="2400" dirty="0" err="1">
                <a:ea typeface="Times New Roman" panose="02020603050405020304" pitchFamily="18" charset="0"/>
              </a:rPr>
              <a:t>categoria</a:t>
            </a:r>
            <a:r>
              <a:rPr lang="en-GB" sz="2400" dirty="0">
                <a:ea typeface="Times New Roman" panose="02020603050405020304" pitchFamily="18" charset="0"/>
              </a:rPr>
              <a:t> </a:t>
            </a:r>
            <a:r>
              <a:rPr lang="en-GB" sz="2400" dirty="0" err="1">
                <a:ea typeface="Times New Roman" panose="02020603050405020304" pitchFamily="18" charset="0"/>
              </a:rPr>
              <a:t>apelor</a:t>
            </a:r>
            <a:r>
              <a:rPr lang="en-GB" sz="2400" dirty="0">
                <a:ea typeface="Times New Roman" panose="02020603050405020304" pitchFamily="18" charset="0"/>
              </a:rPr>
              <a:t> </a:t>
            </a:r>
            <a:r>
              <a:rPr lang="en-GB" sz="2400" dirty="0" err="1">
                <a:ea typeface="Times New Roman" panose="02020603050405020304" pitchFamily="18" charset="0"/>
              </a:rPr>
              <a:t>alcaline</a:t>
            </a:r>
            <a:r>
              <a:rPr lang="en-GB" sz="2400" dirty="0">
                <a:ea typeface="Times New Roman" panose="02020603050405020304" pitchFamily="18" charset="0"/>
              </a:rPr>
              <a:t> </a:t>
            </a:r>
            <a:r>
              <a:rPr lang="ro-RO" sz="2400" dirty="0">
                <a:ea typeface="Times New Roman" panose="02020603050405020304" pitchFamily="18" charset="0"/>
              </a:rPr>
              <a:t>ș</a:t>
            </a:r>
            <a:r>
              <a:rPr lang="en-GB" sz="2400" dirty="0" err="1">
                <a:ea typeface="Times New Roman" panose="02020603050405020304" pitchFamily="18" charset="0"/>
              </a:rPr>
              <a:t>i</a:t>
            </a:r>
            <a:r>
              <a:rPr lang="en-GB" sz="2400" dirty="0">
                <a:ea typeface="Times New Roman" panose="02020603050405020304" pitchFamily="18" charset="0"/>
              </a:rPr>
              <a:t> </a:t>
            </a:r>
            <a:r>
              <a:rPr lang="en-GB" sz="2400" dirty="0" err="1">
                <a:ea typeface="Times New Roman" panose="02020603050405020304" pitchFamily="18" charset="0"/>
              </a:rPr>
              <a:t>este</a:t>
            </a:r>
            <a:r>
              <a:rPr lang="en-GB" sz="2400" dirty="0">
                <a:ea typeface="Times New Roman" panose="02020603050405020304" pitchFamily="18" charset="0"/>
              </a:rPr>
              <a:t> </a:t>
            </a:r>
            <a:r>
              <a:rPr lang="en-GB" sz="2400" dirty="0" err="1">
                <a:ea typeface="Times New Roman" panose="02020603050405020304" pitchFamily="18" charset="0"/>
              </a:rPr>
              <a:t>complet</a:t>
            </a:r>
            <a:r>
              <a:rPr lang="en-GB" sz="2400" dirty="0">
                <a:ea typeface="Times New Roman" panose="02020603050405020304" pitchFamily="18" charset="0"/>
              </a:rPr>
              <a:t> natural</a:t>
            </a:r>
            <a:r>
              <a:rPr lang="ro-RO" sz="2400" dirty="0" smtClean="0">
                <a:ea typeface="Times New Roman" panose="02020603050405020304" pitchFamily="18" charset="0"/>
              </a:rPr>
              <a:t>ă</a:t>
            </a:r>
          </a:p>
          <a:p>
            <a:pPr marL="0" indent="0">
              <a:lnSpc>
                <a:spcPct val="90000"/>
              </a:lnSpc>
              <a:spcAft>
                <a:spcPts val="0"/>
              </a:spcAft>
              <a:buNone/>
            </a:pPr>
            <a:endParaRPr lang="en-GB" sz="1400" dirty="0">
              <a:ea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spcAft>
                <a:spcPts val="0"/>
              </a:spcAft>
              <a:buNone/>
            </a:pPr>
            <a:r>
              <a:rPr lang="en-US" sz="2400" dirty="0" err="1">
                <a:ea typeface="Times New Roman" panose="02020603050405020304" pitchFamily="18" charset="0"/>
              </a:rPr>
              <a:t>Variante</a:t>
            </a:r>
            <a:r>
              <a:rPr lang="en-US" sz="2400" dirty="0">
                <a:ea typeface="Times New Roman" panose="02020603050405020304" pitchFamily="18" charset="0"/>
              </a:rPr>
              <a:t> de </a:t>
            </a:r>
            <a:r>
              <a:rPr lang="en-US" sz="2400" dirty="0" err="1">
                <a:ea typeface="Times New Roman" panose="02020603050405020304" pitchFamily="18" charset="0"/>
              </a:rPr>
              <a:t>imbuteliere</a:t>
            </a:r>
            <a:r>
              <a:rPr lang="en-US" sz="2400" dirty="0">
                <a:ea typeface="Times New Roman" panose="02020603050405020304" pitchFamily="18" charset="0"/>
              </a:rPr>
              <a:t>: </a:t>
            </a:r>
            <a:r>
              <a:rPr lang="en-US" sz="2400" dirty="0" smtClean="0">
                <a:ea typeface="Times New Roman" panose="02020603050405020304" pitchFamily="18" charset="0"/>
              </a:rPr>
              <a:t>0,5</a:t>
            </a:r>
            <a:r>
              <a:rPr lang="ro-RO" sz="2400" dirty="0" smtClean="0">
                <a:ea typeface="Times New Roman" panose="02020603050405020304" pitchFamily="18" charset="0"/>
              </a:rPr>
              <a:t>L </a:t>
            </a:r>
            <a:r>
              <a:rPr lang="en-US" sz="2400" dirty="0" err="1" smtClean="0">
                <a:ea typeface="Times New Roman" panose="02020603050405020304" pitchFamily="18" charset="0"/>
              </a:rPr>
              <a:t>si</a:t>
            </a:r>
            <a:r>
              <a:rPr lang="en-US" sz="2400" dirty="0" smtClean="0">
                <a:ea typeface="Times New Roman" panose="02020603050405020304" pitchFamily="18" charset="0"/>
              </a:rPr>
              <a:t> 2</a:t>
            </a:r>
            <a:r>
              <a:rPr lang="ro-RO" sz="2400" dirty="0" smtClean="0">
                <a:ea typeface="Times New Roman" panose="02020603050405020304" pitchFamily="18" charset="0"/>
              </a:rPr>
              <a:t>L</a:t>
            </a:r>
            <a:r>
              <a:rPr lang="en-US" sz="2400" dirty="0" smtClean="0">
                <a:ea typeface="Times New Roman" panose="02020603050405020304" pitchFamily="18" charset="0"/>
              </a:rPr>
              <a:t> </a:t>
            </a:r>
            <a:r>
              <a:rPr lang="en-US" sz="2400" dirty="0">
                <a:ea typeface="Times New Roman" panose="02020603050405020304" pitchFamily="18" charset="0"/>
              </a:rPr>
              <a:t>in </a:t>
            </a:r>
            <a:r>
              <a:rPr lang="en-US" sz="2400" dirty="0" err="1">
                <a:ea typeface="Times New Roman" panose="02020603050405020304" pitchFamily="18" charset="0"/>
              </a:rPr>
              <a:t>primul</a:t>
            </a:r>
            <a:r>
              <a:rPr lang="en-US" sz="2400" dirty="0">
                <a:ea typeface="Times New Roman" panose="02020603050405020304" pitchFamily="18" charset="0"/>
              </a:rPr>
              <a:t> flux </a:t>
            </a:r>
            <a:r>
              <a:rPr lang="en-US" sz="2400" dirty="0" err="1">
                <a:ea typeface="Times New Roman" panose="02020603050405020304" pitchFamily="18" charset="0"/>
              </a:rPr>
              <a:t>tehnologic</a:t>
            </a:r>
            <a:r>
              <a:rPr lang="en-US" sz="2400" dirty="0">
                <a:ea typeface="Times New Roman" panose="02020603050405020304" pitchFamily="18" charset="0"/>
              </a:rPr>
              <a:t>; </a:t>
            </a:r>
            <a:r>
              <a:rPr lang="en-US" sz="2400" dirty="0" smtClean="0">
                <a:ea typeface="Times New Roman" panose="02020603050405020304" pitchFamily="18" charset="0"/>
              </a:rPr>
              <a:t>1,5</a:t>
            </a:r>
            <a:r>
              <a:rPr lang="ro-RO" sz="2400" dirty="0" smtClean="0">
                <a:ea typeface="Times New Roman" panose="02020603050405020304" pitchFamily="18" charset="0"/>
              </a:rPr>
              <a:t>L </a:t>
            </a:r>
            <a:r>
              <a:rPr lang="en-US" sz="2400" dirty="0" smtClean="0">
                <a:ea typeface="Times New Roman" panose="02020603050405020304" pitchFamily="18" charset="0"/>
              </a:rPr>
              <a:t>; 2,5</a:t>
            </a:r>
            <a:r>
              <a:rPr lang="ro-RO" sz="2400" dirty="0" smtClean="0">
                <a:ea typeface="Times New Roman" panose="02020603050405020304" pitchFamily="18" charset="0"/>
              </a:rPr>
              <a:t>L</a:t>
            </a:r>
            <a:r>
              <a:rPr lang="en-US" sz="2400" dirty="0" smtClean="0">
                <a:ea typeface="Times New Roman" panose="02020603050405020304" pitchFamily="18" charset="0"/>
              </a:rPr>
              <a:t>, 5</a:t>
            </a:r>
            <a:r>
              <a:rPr lang="ro-RO" sz="2400" dirty="0" smtClean="0">
                <a:ea typeface="Times New Roman" panose="02020603050405020304" pitchFamily="18" charset="0"/>
              </a:rPr>
              <a:t>L</a:t>
            </a:r>
            <a:r>
              <a:rPr lang="en-US" sz="2400" dirty="0" smtClean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sau</a:t>
            </a:r>
            <a:r>
              <a:rPr lang="en-US" sz="2400" dirty="0">
                <a:ea typeface="Times New Roman" panose="02020603050405020304" pitchFamily="18" charset="0"/>
              </a:rPr>
              <a:t> 6l in </a:t>
            </a:r>
            <a:r>
              <a:rPr lang="en-US" sz="2400" dirty="0" err="1">
                <a:ea typeface="Times New Roman" panose="02020603050405020304" pitchFamily="18" charset="0"/>
              </a:rPr>
              <a:t>functie</a:t>
            </a:r>
            <a:r>
              <a:rPr lang="en-US" sz="2400" dirty="0">
                <a:ea typeface="Times New Roman" panose="02020603050405020304" pitchFamily="18" charset="0"/>
              </a:rPr>
              <a:t> de </a:t>
            </a:r>
            <a:r>
              <a:rPr lang="en-US" sz="2400" dirty="0" err="1">
                <a:ea typeface="Times New Roman" panose="02020603050405020304" pitchFamily="18" charset="0"/>
              </a:rPr>
              <a:t>cerintele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pietii</a:t>
            </a:r>
            <a:endParaRPr lang="en-US" sz="2400" dirty="0">
              <a:ea typeface="Times New Roman" panose="02020603050405020304" pitchFamily="18" charset="0"/>
            </a:endParaRPr>
          </a:p>
          <a:p>
            <a:endParaRPr lang="en-GB" sz="2400" dirty="0">
              <a:cs typeface="Andalus" panose="02020603050405020304" pitchFamily="18" charset="-78"/>
            </a:endParaRPr>
          </a:p>
        </p:txBody>
      </p:sp>
      <p:pic>
        <p:nvPicPr>
          <p:cNvPr id="6" name="Imagine 4">
            <a:extLst>
              <a:ext uri="{FF2B5EF4-FFF2-40B4-BE49-F238E27FC236}">
                <a16:creationId xmlns:a16="http://schemas.microsoft.com/office/drawing/2014/main" xmlns="" id="{87254D38-E4D1-4F5C-B3D6-E379D841AE6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0875" y="2211684"/>
            <a:ext cx="2059429" cy="2939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7415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9FF5C63-16A5-4D49-AE3E-0789CD29A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7380" y="187573"/>
            <a:ext cx="6156127" cy="1325563"/>
          </a:xfrm>
        </p:spPr>
        <p:txBody>
          <a:bodyPr/>
          <a:lstStyle/>
          <a:p>
            <a:pPr algn="r"/>
            <a:r>
              <a:rPr lang="ro-RO" dirty="0">
                <a:latin typeface="+mn-lt"/>
              </a:rPr>
              <a:t>LINIE DE ÎMBUTELIERE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63" y="1940570"/>
            <a:ext cx="78542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500" dirty="0" err="1" smtClean="0"/>
              <a:t>Capacitatea</a:t>
            </a:r>
            <a:r>
              <a:rPr lang="en-US" sz="3500" dirty="0" smtClean="0"/>
              <a:t> </a:t>
            </a:r>
            <a:r>
              <a:rPr lang="en-US" sz="3500" dirty="0" err="1" smtClean="0"/>
              <a:t>liniei</a:t>
            </a:r>
            <a:r>
              <a:rPr lang="en-US" sz="3500" dirty="0" smtClean="0"/>
              <a:t> de </a:t>
            </a:r>
            <a:r>
              <a:rPr lang="en-US" sz="3500" dirty="0" err="1" smtClean="0"/>
              <a:t>imbuteliere</a:t>
            </a:r>
            <a:r>
              <a:rPr lang="en-US" sz="3500" dirty="0" smtClean="0"/>
              <a:t> </a:t>
            </a:r>
            <a:r>
              <a:rPr lang="en-US" sz="3500" dirty="0" err="1" smtClean="0"/>
              <a:t>actuale</a:t>
            </a:r>
            <a:r>
              <a:rPr lang="en-US" sz="3500" dirty="0" smtClean="0"/>
              <a:t>:</a:t>
            </a:r>
            <a:endParaRPr lang="en-US" sz="350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0170673"/>
              </p:ext>
            </p:extLst>
          </p:nvPr>
        </p:nvGraphicFramePr>
        <p:xfrm>
          <a:off x="1011207" y="2810033"/>
          <a:ext cx="7479651" cy="22519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3217">
                  <a:extLst>
                    <a:ext uri="{9D8B030D-6E8A-4147-A177-3AD203B41FA5}">
                      <a16:colId xmlns:a16="http://schemas.microsoft.com/office/drawing/2014/main" xmlns="" val="1981655165"/>
                    </a:ext>
                  </a:extLst>
                </a:gridCol>
                <a:gridCol w="2493217">
                  <a:extLst>
                    <a:ext uri="{9D8B030D-6E8A-4147-A177-3AD203B41FA5}">
                      <a16:colId xmlns:a16="http://schemas.microsoft.com/office/drawing/2014/main" xmlns="" val="2143832080"/>
                    </a:ext>
                  </a:extLst>
                </a:gridCol>
                <a:gridCol w="2493217">
                  <a:extLst>
                    <a:ext uri="{9D8B030D-6E8A-4147-A177-3AD203B41FA5}">
                      <a16:colId xmlns:a16="http://schemas.microsoft.com/office/drawing/2014/main" xmlns="" val="2799157148"/>
                    </a:ext>
                  </a:extLst>
                </a:gridCol>
              </a:tblGrid>
              <a:tr h="750638">
                <a:tc>
                  <a:txBody>
                    <a:bodyPr/>
                    <a:lstStyle/>
                    <a:p>
                      <a:r>
                        <a:rPr lang="ro-RO" sz="2800" b="1" dirty="0" smtClean="0">
                          <a:solidFill>
                            <a:schemeClr val="tx1"/>
                          </a:solidFill>
                        </a:rPr>
                        <a:t>Volum</a:t>
                      </a:r>
                      <a:endParaRPr 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2800" b="1" dirty="0" smtClean="0">
                          <a:solidFill>
                            <a:schemeClr val="tx1"/>
                          </a:solidFill>
                        </a:rPr>
                        <a:t>Cantitate/h</a:t>
                      </a:r>
                      <a:endParaRPr 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2800" b="1" dirty="0" smtClean="0">
                          <a:solidFill>
                            <a:schemeClr val="tx1"/>
                          </a:solidFill>
                        </a:rPr>
                        <a:t>Cantitate/tură*</a:t>
                      </a:r>
                      <a:endParaRPr 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167039498"/>
                  </a:ext>
                </a:extLst>
              </a:tr>
              <a:tr h="750638">
                <a:tc>
                  <a:txBody>
                    <a:bodyPr/>
                    <a:lstStyle/>
                    <a:p>
                      <a:r>
                        <a:rPr lang="ro-RO" sz="2800" b="1" dirty="0" smtClean="0"/>
                        <a:t>2 L</a:t>
                      </a:r>
                      <a:endParaRPr lang="en-US" sz="2800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2800" b="1" dirty="0" smtClean="0"/>
                        <a:t>1.500,00</a:t>
                      </a:r>
                      <a:endParaRPr lang="en-US" sz="2800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2800" b="1" dirty="0" smtClean="0"/>
                        <a:t>7.500,00</a:t>
                      </a:r>
                      <a:endParaRPr lang="en-US" sz="2800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170815412"/>
                  </a:ext>
                </a:extLst>
              </a:tr>
              <a:tr h="750638">
                <a:tc>
                  <a:txBody>
                    <a:bodyPr/>
                    <a:lstStyle/>
                    <a:p>
                      <a:r>
                        <a:rPr lang="ro-RO" sz="2800" b="1" dirty="0" smtClean="0"/>
                        <a:t>0,5 L</a:t>
                      </a:r>
                      <a:endParaRPr lang="en-US" sz="2800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2800" b="1" dirty="0" smtClean="0"/>
                        <a:t>5.000,00</a:t>
                      </a:r>
                      <a:endParaRPr lang="en-US" sz="2800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2800" b="1" dirty="0" smtClean="0"/>
                        <a:t>30.000,00</a:t>
                      </a:r>
                      <a:endParaRPr lang="en-US" sz="2800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49455107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884388" y="5192294"/>
            <a:ext cx="58258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dirty="0" smtClean="0"/>
              <a:t>* Tura presupune un schimb de 8 ore cu pauze pregătitoare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4526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1D460BA-157D-4D91-A346-F7F2B580D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3925" y="224988"/>
            <a:ext cx="7886700" cy="1325563"/>
          </a:xfrm>
        </p:spPr>
        <p:txBody>
          <a:bodyPr/>
          <a:lstStyle/>
          <a:p>
            <a:pPr algn="r"/>
            <a:r>
              <a:rPr lang="ro-RO" dirty="0">
                <a:latin typeface="+mn-lt"/>
              </a:rPr>
              <a:t>STRATEGIE COMERCIALĂ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90EAFA4-41A8-4F12-93A6-7047A62302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823" y="1825625"/>
            <a:ext cx="8136527" cy="3682178"/>
          </a:xfrm>
        </p:spPr>
        <p:txBody>
          <a:bodyPr/>
          <a:lstStyle/>
          <a:p>
            <a:pPr marL="0" indent="0">
              <a:buNone/>
            </a:pPr>
            <a:r>
              <a:rPr lang="ro-RO" dirty="0" smtClean="0"/>
              <a:t>Retail: prezenta in cele mai importante lanturi Modern Trade si Petroleum</a:t>
            </a:r>
          </a:p>
          <a:p>
            <a:pPr marL="0" indent="0">
              <a:buNone/>
            </a:pPr>
            <a:endParaRPr lang="ro-RO" dirty="0"/>
          </a:p>
          <a:p>
            <a:pPr marL="0" indent="0">
              <a:buNone/>
            </a:pPr>
            <a:r>
              <a:rPr lang="ro-RO" dirty="0" smtClean="0"/>
              <a:t>Pozitionare: segmentul Premium</a:t>
            </a:r>
          </a:p>
          <a:p>
            <a:pPr marL="0" indent="0">
              <a:buNone/>
            </a:pPr>
            <a:endParaRPr lang="ro-RO" dirty="0"/>
          </a:p>
          <a:p>
            <a:pPr marL="0" indent="0">
              <a:buNone/>
            </a:pPr>
            <a:r>
              <a:rPr lang="ro-RO" dirty="0" smtClean="0"/>
              <a:t>Target: 20 – 50 yo/ venituri medii si mari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5156726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19DA904-EE28-4856-8CE2-7E6C50C56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0679" y="187573"/>
            <a:ext cx="5854286" cy="1325563"/>
          </a:xfrm>
        </p:spPr>
        <p:txBody>
          <a:bodyPr/>
          <a:lstStyle/>
          <a:p>
            <a:pPr algn="r"/>
            <a:r>
              <a:rPr lang="ro-RO" dirty="0">
                <a:latin typeface="+mn-lt"/>
              </a:rPr>
              <a:t>PIAȚĂ ȘI TRENDURI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24F14EA-4794-4035-9700-035B91F9F3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o-RO" dirty="0" smtClean="0"/>
              <a:t>Piața cere din ce în ce mai mult produse de nișă, cu potențial mare de diferențiere, care îndeplinesc nevoi ce depășesc zona nevoilor primare</a:t>
            </a:r>
          </a:p>
          <a:p>
            <a:pPr marL="0" indent="0">
              <a:buNone/>
            </a:pPr>
            <a:endParaRPr lang="ro-RO" dirty="0"/>
          </a:p>
          <a:p>
            <a:pPr marL="0" indent="0">
              <a:buNone/>
            </a:pPr>
            <a:r>
              <a:rPr lang="ro-RO" dirty="0" smtClean="0"/>
              <a:t>Categoria BIO este într-o crestere accentuata, fiind din ce </a:t>
            </a:r>
            <a:r>
              <a:rPr lang="ro-RO" dirty="0"/>
              <a:t>î</a:t>
            </a:r>
            <a:r>
              <a:rPr lang="ro-RO" dirty="0" smtClean="0"/>
              <a:t>n ce mai accesata și cerută. BIO tinde sa devina un standard uzual pentru categoria de public tanar si informat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5544513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F780B37-88C5-4164-8D4B-1E8CB14FC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2382" y="221502"/>
            <a:ext cx="7886700" cy="1325563"/>
          </a:xfrm>
        </p:spPr>
        <p:txBody>
          <a:bodyPr/>
          <a:lstStyle/>
          <a:p>
            <a:pPr algn="r"/>
            <a:r>
              <a:rPr lang="ro-RO" dirty="0" smtClean="0">
                <a:latin typeface="+mn-lt"/>
              </a:rPr>
              <a:t>PROIECTII </a:t>
            </a:r>
            <a:r>
              <a:rPr lang="ro-RO" dirty="0">
                <a:latin typeface="+mn-lt"/>
              </a:rPr>
              <a:t>FINANCIARE</a:t>
            </a:r>
          </a:p>
        </p:txBody>
      </p:sp>
      <p:pic>
        <p:nvPicPr>
          <p:cNvPr id="4" name="Substituent conținut 3">
            <a:extLst>
              <a:ext uri="{FF2B5EF4-FFF2-40B4-BE49-F238E27FC236}">
                <a16:creationId xmlns:a16="http://schemas.microsoft.com/office/drawing/2014/main" xmlns="" id="{BD983FA8-EFC2-4D12-8306-185B212BD881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592" y="1872162"/>
            <a:ext cx="8301935" cy="3835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2395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xmlns="" id="{FF780B37-88C5-4164-8D4B-1E8CB14FC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033" y="178695"/>
            <a:ext cx="5847580" cy="1325563"/>
          </a:xfrm>
        </p:spPr>
        <p:txBody>
          <a:bodyPr/>
          <a:lstStyle/>
          <a:p>
            <a:r>
              <a:rPr lang="ro-RO" dirty="0" smtClean="0">
                <a:latin typeface="+mn-lt"/>
              </a:rPr>
              <a:t>NECESAR DE INVESTITIE:</a:t>
            </a:r>
            <a:endParaRPr lang="ro-RO" dirty="0">
              <a:latin typeface="+mn-lt"/>
            </a:endParaRPr>
          </a:p>
        </p:txBody>
      </p:sp>
      <p:sp>
        <p:nvSpPr>
          <p:cNvPr id="5" name="Substituent conținut 2">
            <a:extLst>
              <a:ext uri="{FF2B5EF4-FFF2-40B4-BE49-F238E27FC236}">
                <a16:creationId xmlns:a16="http://schemas.microsoft.com/office/drawing/2014/main" xmlns="" id="{D63DC72F-4110-484C-AE64-A88CD976A4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019" y="1765571"/>
            <a:ext cx="7746010" cy="631602"/>
          </a:xfrm>
        </p:spPr>
        <p:txBody>
          <a:bodyPr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GB" sz="2400" dirty="0">
                <a:cs typeface="Aharoni" panose="02010803020104030203" pitchFamily="2" charset="-79"/>
              </a:rPr>
              <a:t>250.000 </a:t>
            </a:r>
            <a:r>
              <a:rPr lang="en-GB" sz="2400" dirty="0" smtClean="0">
                <a:cs typeface="Aharoni" panose="02010803020104030203" pitchFamily="2" charset="-79"/>
              </a:rPr>
              <a:t>EUR- 30</a:t>
            </a:r>
            <a:r>
              <a:rPr lang="en-GB" sz="2400" dirty="0">
                <a:cs typeface="Aharoni" panose="02010803020104030203" pitchFamily="2" charset="-79"/>
              </a:rPr>
              <a:t>% din </a:t>
            </a:r>
            <a:r>
              <a:rPr lang="en-GB" sz="2400" dirty="0" smtClean="0">
                <a:cs typeface="Aharoni" panose="02010803020104030203" pitchFamily="2" charset="-79"/>
              </a:rPr>
              <a:t>business + </a:t>
            </a:r>
            <a:r>
              <a:rPr lang="en-GB" sz="2400" dirty="0" err="1" smtClean="0">
                <a:cs typeface="Aharoni" panose="02010803020104030203" pitchFamily="2" charset="-79"/>
              </a:rPr>
              <a:t>exclusivitate</a:t>
            </a:r>
            <a:r>
              <a:rPr lang="en-GB" sz="2400" dirty="0" smtClean="0">
                <a:cs typeface="Aharoni" panose="02010803020104030203" pitchFamily="2" charset="-79"/>
              </a:rPr>
              <a:t> in </a:t>
            </a:r>
            <a:r>
              <a:rPr lang="en-GB" sz="2400" dirty="0" err="1" smtClean="0">
                <a:cs typeface="Aharoni" panose="02010803020104030203" pitchFamily="2" charset="-79"/>
              </a:rPr>
              <a:t>distributia</a:t>
            </a:r>
            <a:r>
              <a:rPr lang="en-GB" sz="2400" dirty="0" smtClean="0">
                <a:cs typeface="Aharoni" panose="02010803020104030203" pitchFamily="2" charset="-79"/>
              </a:rPr>
              <a:t> </a:t>
            </a:r>
            <a:r>
              <a:rPr lang="en-GB" sz="2400" dirty="0" err="1" smtClean="0">
                <a:cs typeface="Aharoni" panose="02010803020104030203" pitchFamily="2" charset="-79"/>
              </a:rPr>
              <a:t>produsului</a:t>
            </a:r>
            <a:endParaRPr lang="ro-RO" sz="2400" dirty="0">
              <a:cs typeface="Aharoni" panose="02010803020104030203" pitchFamily="2" charset="-79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42076" y="4451902"/>
            <a:ext cx="7997339" cy="24622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 err="1" smtClean="0"/>
              <a:t>Investitia</a:t>
            </a:r>
            <a:r>
              <a:rPr lang="en-US" sz="2200" dirty="0" smtClean="0"/>
              <a:t> </a:t>
            </a:r>
            <a:r>
              <a:rPr lang="en-US" sz="2200" dirty="0" err="1" smtClean="0"/>
              <a:t>va</a:t>
            </a:r>
            <a:r>
              <a:rPr lang="en-US" sz="2200" dirty="0" smtClean="0"/>
              <a:t> </a:t>
            </a:r>
            <a:r>
              <a:rPr lang="en-US" sz="2200" dirty="0" err="1" smtClean="0"/>
              <a:t>acoperi</a:t>
            </a:r>
            <a:r>
              <a:rPr lang="en-US" sz="2200" dirty="0" smtClean="0"/>
              <a:t> </a:t>
            </a:r>
            <a:r>
              <a:rPr lang="en-US" sz="2200" dirty="0" err="1" smtClean="0"/>
              <a:t>completarea</a:t>
            </a:r>
            <a:r>
              <a:rPr lang="en-US" sz="2200" dirty="0" smtClean="0"/>
              <a:t> </a:t>
            </a:r>
            <a:r>
              <a:rPr lang="en-US" sz="2200" dirty="0" err="1" smtClean="0"/>
              <a:t>liniei</a:t>
            </a:r>
            <a:r>
              <a:rPr lang="en-US" sz="2200" dirty="0" smtClean="0"/>
              <a:t> de </a:t>
            </a:r>
            <a:r>
              <a:rPr lang="en-US" sz="2200" dirty="0" err="1" smtClean="0"/>
              <a:t>imbuteliere</a:t>
            </a:r>
            <a:r>
              <a:rPr lang="en-US" sz="2200" dirty="0" smtClean="0"/>
              <a:t> </a:t>
            </a:r>
            <a:r>
              <a:rPr lang="en-US" sz="2200" dirty="0" err="1" smtClean="0"/>
              <a:t>existenta</a:t>
            </a:r>
            <a:r>
              <a:rPr lang="en-US" sz="2200" dirty="0" smtClean="0"/>
              <a:t> cu:</a:t>
            </a:r>
          </a:p>
          <a:p>
            <a:r>
              <a:rPr lang="en-US" sz="2200" dirty="0" err="1" smtClean="0"/>
              <a:t>Masina</a:t>
            </a:r>
            <a:r>
              <a:rPr lang="en-US" sz="2200" dirty="0" smtClean="0"/>
              <a:t> automata de </a:t>
            </a:r>
            <a:r>
              <a:rPr lang="en-US" sz="2200" dirty="0" err="1" smtClean="0"/>
              <a:t>umflat</a:t>
            </a:r>
            <a:r>
              <a:rPr lang="en-US" sz="2200" dirty="0" smtClean="0"/>
              <a:t> PET-</a:t>
            </a:r>
            <a:r>
              <a:rPr lang="en-US" sz="2200" dirty="0" err="1" smtClean="0"/>
              <a:t>uri</a:t>
            </a:r>
            <a:r>
              <a:rPr lang="en-US" sz="2200" dirty="0" smtClean="0"/>
              <a:t>: </a:t>
            </a:r>
            <a:r>
              <a:rPr lang="en-US" sz="2200" dirty="0" err="1" smtClean="0"/>
              <a:t>aproximativ</a:t>
            </a:r>
            <a:r>
              <a:rPr lang="en-US" sz="2200" dirty="0" smtClean="0"/>
              <a:t> 200,000 euro</a:t>
            </a:r>
          </a:p>
          <a:p>
            <a:r>
              <a:rPr lang="en-US" sz="2200" dirty="0" smtClean="0"/>
              <a:t>Impregnator CO2 </a:t>
            </a:r>
            <a:r>
              <a:rPr lang="en-US" sz="2200" dirty="0" err="1" smtClean="0"/>
              <a:t>pentru</a:t>
            </a:r>
            <a:r>
              <a:rPr lang="en-US" sz="2200" dirty="0" smtClean="0"/>
              <a:t> </a:t>
            </a:r>
            <a:r>
              <a:rPr lang="en-US" sz="2200" dirty="0" err="1" smtClean="0"/>
              <a:t>sucuri</a:t>
            </a:r>
            <a:r>
              <a:rPr lang="en-US" sz="2200" dirty="0" smtClean="0"/>
              <a:t> </a:t>
            </a:r>
            <a:r>
              <a:rPr lang="en-US" sz="2200" dirty="0" err="1" smtClean="0"/>
              <a:t>sau</a:t>
            </a:r>
            <a:r>
              <a:rPr lang="en-US" sz="2200" dirty="0" smtClean="0"/>
              <a:t> </a:t>
            </a:r>
            <a:r>
              <a:rPr lang="en-US" sz="2200" dirty="0" err="1" smtClean="0"/>
              <a:t>apa</a:t>
            </a:r>
            <a:r>
              <a:rPr lang="en-US" sz="2200" dirty="0" smtClean="0"/>
              <a:t> </a:t>
            </a:r>
            <a:r>
              <a:rPr lang="en-US" sz="2200" dirty="0" err="1" smtClean="0"/>
              <a:t>carbogazificata</a:t>
            </a:r>
            <a:r>
              <a:rPr lang="en-US" sz="2200" dirty="0" smtClean="0"/>
              <a:t>: </a:t>
            </a:r>
            <a:r>
              <a:rPr lang="en-US" sz="2200" dirty="0" err="1" smtClean="0"/>
              <a:t>aproximativ</a:t>
            </a:r>
            <a:r>
              <a:rPr lang="en-US" sz="2200" dirty="0" smtClean="0"/>
              <a:t> </a:t>
            </a:r>
          </a:p>
          <a:p>
            <a:r>
              <a:rPr lang="en-US" sz="2200" dirty="0" smtClean="0"/>
              <a:t>50,000 euro</a:t>
            </a:r>
          </a:p>
          <a:p>
            <a:r>
              <a:rPr lang="en-US" sz="2200" dirty="0" err="1" smtClean="0"/>
              <a:t>Investie</a:t>
            </a:r>
            <a:r>
              <a:rPr lang="en-US" sz="2200" dirty="0" smtClean="0"/>
              <a:t> </a:t>
            </a:r>
            <a:r>
              <a:rPr lang="en-US" sz="2200" dirty="0" err="1" smtClean="0"/>
              <a:t>branding&amp;marketare</a:t>
            </a:r>
            <a:r>
              <a:rPr lang="en-US" sz="2200" dirty="0" smtClean="0"/>
              <a:t> </a:t>
            </a:r>
            <a:r>
              <a:rPr lang="en-US" sz="2200" dirty="0" err="1" smtClean="0"/>
              <a:t>produs</a:t>
            </a:r>
            <a:r>
              <a:rPr lang="en-US" sz="2200" dirty="0" smtClean="0"/>
              <a:t>: </a:t>
            </a:r>
            <a:r>
              <a:rPr lang="en-US" sz="2200" dirty="0" err="1" smtClean="0"/>
              <a:t>aproximativ</a:t>
            </a:r>
            <a:r>
              <a:rPr lang="en-US" sz="2200" dirty="0" smtClean="0"/>
              <a:t> 150,000 euro</a:t>
            </a:r>
          </a:p>
          <a:p>
            <a:endParaRPr lang="en-US" sz="2200" dirty="0" smtClean="0"/>
          </a:p>
          <a:p>
            <a:endParaRPr lang="en-US" sz="22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004719"/>
              </p:ext>
            </p:extLst>
          </p:nvPr>
        </p:nvGraphicFramePr>
        <p:xfrm>
          <a:off x="827706" y="2654018"/>
          <a:ext cx="7549240" cy="1284203"/>
        </p:xfrm>
        <a:graphic>
          <a:graphicData uri="http://schemas.openxmlformats.org/drawingml/2006/table">
            <a:tbl>
              <a:tblPr/>
              <a:tblGrid>
                <a:gridCol w="3361928"/>
                <a:gridCol w="2154050"/>
                <a:gridCol w="2033262"/>
              </a:tblGrid>
              <a:tr h="6284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INVESTITIE INITIALA</a:t>
                      </a: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2,000,000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30%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576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EBITDA 5Y</a:t>
                      </a: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19,279,688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5,783,906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49123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CA11263-8E28-4F41-9CBA-81F637B8C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3747" y="169817"/>
            <a:ext cx="6401218" cy="1325563"/>
          </a:xfrm>
        </p:spPr>
        <p:txBody>
          <a:bodyPr/>
          <a:lstStyle/>
          <a:p>
            <a:pPr algn="r"/>
            <a:r>
              <a:rPr lang="ro-RO" dirty="0">
                <a:solidFill>
                  <a:schemeClr val="accent4">
                    <a:lumMod val="20000"/>
                    <a:lumOff val="80000"/>
                  </a:schemeClr>
                </a:solidFill>
                <a:latin typeface="+mn-lt"/>
              </a:rPr>
              <a:t>CRAMA ȘI VINURILE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DA02131-A99E-4BC7-9CD1-102BD0EB1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0693" y="1639194"/>
            <a:ext cx="7886700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Casa </a:t>
            </a:r>
            <a:r>
              <a:rPr lang="en-US" sz="1800" dirty="0" err="1">
                <a:solidFill>
                  <a:schemeClr val="accent4">
                    <a:lumMod val="20000"/>
                    <a:lumOff val="80000"/>
                  </a:schemeClr>
                </a:solidFill>
              </a:rPr>
              <a:t>Neac</a:t>
            </a:r>
            <a:r>
              <a:rPr lang="ro-RO" sz="1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ș</a:t>
            </a:r>
            <a:r>
              <a:rPr lang="en-US" sz="1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u </a:t>
            </a:r>
            <a:r>
              <a:rPr lang="en-US" sz="1800" dirty="0" err="1">
                <a:solidFill>
                  <a:schemeClr val="accent4">
                    <a:lumMod val="20000"/>
                    <a:lumOff val="80000"/>
                  </a:schemeClr>
                </a:solidFill>
              </a:rPr>
              <a:t>este</a:t>
            </a:r>
            <a:r>
              <a:rPr lang="en-US" sz="1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accent4">
                    <a:lumMod val="20000"/>
                    <a:lumOff val="80000"/>
                  </a:schemeClr>
                </a:solidFill>
              </a:rPr>
              <a:t>cel</a:t>
            </a:r>
            <a:r>
              <a:rPr lang="en-US" sz="1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accent4">
                    <a:lumMod val="20000"/>
                    <a:lumOff val="80000"/>
                  </a:schemeClr>
                </a:solidFill>
              </a:rPr>
              <a:t>mai</a:t>
            </a:r>
            <a:r>
              <a:rPr lang="en-US" sz="1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important </a:t>
            </a:r>
            <a:r>
              <a:rPr lang="en-US" sz="1800" dirty="0" err="1">
                <a:solidFill>
                  <a:schemeClr val="accent4">
                    <a:lumMod val="20000"/>
                    <a:lumOff val="80000"/>
                  </a:schemeClr>
                </a:solidFill>
              </a:rPr>
              <a:t>produc</a:t>
            </a:r>
            <a:r>
              <a:rPr lang="ro-RO" sz="1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ă</a:t>
            </a:r>
            <a:r>
              <a:rPr lang="en-US" sz="1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tor de </a:t>
            </a:r>
            <a:r>
              <a:rPr lang="en-US" sz="1800" dirty="0" err="1">
                <a:solidFill>
                  <a:schemeClr val="accent4">
                    <a:lumMod val="20000"/>
                    <a:lumOff val="80000"/>
                  </a:schemeClr>
                </a:solidFill>
              </a:rPr>
              <a:t>vinuri</a:t>
            </a:r>
            <a:r>
              <a:rPr lang="en-US" sz="1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BIO din Rom</a:t>
            </a:r>
            <a:r>
              <a:rPr lang="ro-RO" sz="1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â</a:t>
            </a:r>
            <a:r>
              <a:rPr lang="en-US" sz="1800" dirty="0" err="1">
                <a:solidFill>
                  <a:schemeClr val="accent4">
                    <a:lumMod val="20000"/>
                    <a:lumOff val="80000"/>
                  </a:schemeClr>
                </a:solidFill>
              </a:rPr>
              <a:t>nia</a:t>
            </a:r>
            <a:endParaRPr lang="en-US" sz="18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18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 err="1">
                <a:solidFill>
                  <a:schemeClr val="accent4">
                    <a:lumMod val="20000"/>
                    <a:lumOff val="80000"/>
                  </a:schemeClr>
                </a:solidFill>
              </a:rPr>
              <a:t>Crama</a:t>
            </a:r>
            <a:r>
              <a:rPr lang="en-US" sz="1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rom</a:t>
            </a:r>
            <a:r>
              <a:rPr lang="ro-RO" sz="1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â</a:t>
            </a:r>
            <a:r>
              <a:rPr lang="en-US" sz="1800" dirty="0" err="1">
                <a:solidFill>
                  <a:schemeClr val="accent4">
                    <a:lumMod val="20000"/>
                    <a:lumOff val="80000"/>
                  </a:schemeClr>
                </a:solidFill>
              </a:rPr>
              <a:t>neasc</a:t>
            </a:r>
            <a:r>
              <a:rPr lang="ro-RO" sz="1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ă</a:t>
            </a:r>
            <a:r>
              <a:rPr lang="en-US" sz="1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cu </a:t>
            </a:r>
            <a:r>
              <a:rPr lang="en-US" sz="1800" dirty="0" err="1">
                <a:solidFill>
                  <a:schemeClr val="accent4">
                    <a:lumMod val="20000"/>
                    <a:lumOff val="80000"/>
                  </a:schemeClr>
                </a:solidFill>
              </a:rPr>
              <a:t>cele</a:t>
            </a:r>
            <a:r>
              <a:rPr lang="en-US" sz="1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accent4">
                    <a:lumMod val="20000"/>
                    <a:lumOff val="80000"/>
                  </a:schemeClr>
                </a:solidFill>
              </a:rPr>
              <a:t>mai</a:t>
            </a:r>
            <a:r>
              <a:rPr lang="en-US" sz="1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accent4">
                    <a:lumMod val="20000"/>
                    <a:lumOff val="80000"/>
                  </a:schemeClr>
                </a:solidFill>
              </a:rPr>
              <a:t>multe</a:t>
            </a:r>
            <a:r>
              <a:rPr lang="en-US" sz="1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accent4">
                    <a:lumMod val="20000"/>
                    <a:lumOff val="80000"/>
                  </a:schemeClr>
                </a:solidFill>
              </a:rPr>
              <a:t>soiuri</a:t>
            </a:r>
            <a:r>
              <a:rPr lang="en-US" sz="1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rom</a:t>
            </a:r>
            <a:r>
              <a:rPr lang="ro-RO" sz="1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â</a:t>
            </a:r>
            <a:r>
              <a:rPr lang="en-US" sz="1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ne</a:t>
            </a:r>
            <a:r>
              <a:rPr lang="ro-RO" sz="1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ș</a:t>
            </a:r>
            <a:r>
              <a:rPr lang="en-US" sz="1800" dirty="0" err="1">
                <a:solidFill>
                  <a:schemeClr val="accent4">
                    <a:lumMod val="20000"/>
                    <a:lumOff val="80000"/>
                  </a:schemeClr>
                </a:solidFill>
              </a:rPr>
              <a:t>ti</a:t>
            </a:r>
            <a:r>
              <a:rPr lang="en-US" sz="1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pure </a:t>
            </a:r>
            <a:r>
              <a:rPr lang="ro-RO" sz="1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î</a:t>
            </a:r>
            <a:r>
              <a:rPr lang="en-US" sz="1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n </a:t>
            </a:r>
            <a:r>
              <a:rPr lang="en-US" sz="1800" dirty="0" err="1">
                <a:solidFill>
                  <a:schemeClr val="accent4">
                    <a:lumMod val="20000"/>
                    <a:lumOff val="80000"/>
                  </a:schemeClr>
                </a:solidFill>
              </a:rPr>
              <a:t>portofoliu</a:t>
            </a:r>
            <a:endParaRPr lang="en-US" sz="18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18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ro-RO" sz="1800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B</a:t>
            </a:r>
            <a:r>
              <a:rPr lang="en-US" sz="1800" dirty="0" err="1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randuri</a:t>
            </a:r>
            <a:r>
              <a:rPr lang="en-US" sz="1800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ro-RO" sz="1800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unicat</a:t>
            </a:r>
            <a:r>
              <a:rPr lang="en-US" sz="1800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: </a:t>
            </a:r>
            <a:r>
              <a:rPr lang="en-US" sz="1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Mon</a:t>
            </a:r>
            <a:r>
              <a:rPr lang="ro-RO" sz="1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ș</a:t>
            </a:r>
            <a:r>
              <a:rPr lang="en-US" sz="1800" dirty="0" err="1">
                <a:solidFill>
                  <a:schemeClr val="accent4">
                    <a:lumMod val="20000"/>
                    <a:lumOff val="80000"/>
                  </a:schemeClr>
                </a:solidFill>
              </a:rPr>
              <a:t>er</a:t>
            </a:r>
            <a:r>
              <a:rPr lang="en-US" sz="1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/ Glia/ </a:t>
            </a:r>
            <a:r>
              <a:rPr lang="en-US" sz="1800" dirty="0" err="1">
                <a:solidFill>
                  <a:schemeClr val="accent4">
                    <a:lumMod val="20000"/>
                    <a:lumOff val="80000"/>
                  </a:schemeClr>
                </a:solidFill>
              </a:rPr>
              <a:t>Hereditas</a:t>
            </a:r>
            <a:r>
              <a:rPr lang="en-US" sz="1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BIO/ Omnia BIO/ Senator Private Collection/ </a:t>
            </a:r>
            <a:r>
              <a:rPr lang="en-US" sz="1800" dirty="0" err="1">
                <a:solidFill>
                  <a:schemeClr val="accent4">
                    <a:lumMod val="20000"/>
                    <a:lumOff val="80000"/>
                  </a:schemeClr>
                </a:solidFill>
              </a:rPr>
              <a:t>Secolul</a:t>
            </a:r>
            <a:r>
              <a:rPr lang="en-US" sz="1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13/ Casa </a:t>
            </a:r>
            <a:r>
              <a:rPr lang="en-US" sz="1800" dirty="0" err="1">
                <a:solidFill>
                  <a:schemeClr val="accent4">
                    <a:lumMod val="20000"/>
                    <a:lumOff val="80000"/>
                  </a:schemeClr>
                </a:solidFill>
              </a:rPr>
              <a:t>Neac</a:t>
            </a:r>
            <a:r>
              <a:rPr lang="ro-RO" sz="1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ș</a:t>
            </a:r>
            <a:r>
              <a:rPr lang="en-US" sz="1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u </a:t>
            </a:r>
            <a:r>
              <a:rPr lang="en-US" sz="1800" dirty="0" err="1">
                <a:solidFill>
                  <a:schemeClr val="accent4">
                    <a:lumMod val="20000"/>
                    <a:lumOff val="80000"/>
                  </a:schemeClr>
                </a:solidFill>
              </a:rPr>
              <a:t>Rezerva</a:t>
            </a:r>
            <a:r>
              <a:rPr lang="en-US" sz="1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/ </a:t>
            </a:r>
            <a:r>
              <a:rPr lang="en-US" sz="1800" dirty="0" err="1">
                <a:solidFill>
                  <a:schemeClr val="accent4">
                    <a:lumMod val="20000"/>
                    <a:lumOff val="80000"/>
                  </a:schemeClr>
                </a:solidFill>
              </a:rPr>
              <a:t>Occultus</a:t>
            </a:r>
            <a:endParaRPr lang="ro-RO" sz="18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endParaRPr lang="ro-RO" sz="18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 err="1">
                <a:solidFill>
                  <a:schemeClr val="accent4">
                    <a:lumMod val="20000"/>
                    <a:lumOff val="80000"/>
                  </a:schemeClr>
                </a:solidFill>
              </a:rPr>
              <a:t>Soiuri</a:t>
            </a:r>
            <a:r>
              <a:rPr lang="en-US" sz="1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rom</a:t>
            </a:r>
            <a:r>
              <a:rPr lang="ro-RO" sz="1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â</a:t>
            </a:r>
            <a:r>
              <a:rPr lang="en-US" sz="1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ne</a:t>
            </a:r>
            <a:r>
              <a:rPr lang="ro-RO" sz="1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ș</a:t>
            </a:r>
            <a:r>
              <a:rPr lang="en-US" sz="1800" dirty="0" err="1">
                <a:solidFill>
                  <a:schemeClr val="accent4">
                    <a:lumMod val="20000"/>
                    <a:lumOff val="80000"/>
                  </a:schemeClr>
                </a:solidFill>
              </a:rPr>
              <a:t>ti</a:t>
            </a:r>
            <a:r>
              <a:rPr lang="en-US" sz="1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BIO: </a:t>
            </a:r>
            <a:r>
              <a:rPr lang="en-US" sz="1800" dirty="0" err="1">
                <a:solidFill>
                  <a:schemeClr val="accent4">
                    <a:lumMod val="20000"/>
                    <a:lumOff val="80000"/>
                  </a:schemeClr>
                </a:solidFill>
              </a:rPr>
              <a:t>Feteasc</a:t>
            </a:r>
            <a:r>
              <a:rPr lang="ro-RO" sz="1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ă</a:t>
            </a:r>
            <a:r>
              <a:rPr lang="en-US" sz="1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Regal</a:t>
            </a:r>
            <a:r>
              <a:rPr lang="ro-RO" sz="1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ă</a:t>
            </a:r>
            <a:r>
              <a:rPr lang="en-US" sz="1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, </a:t>
            </a:r>
            <a:r>
              <a:rPr lang="en-US" sz="1800" dirty="0" err="1">
                <a:solidFill>
                  <a:schemeClr val="accent4">
                    <a:lumMod val="20000"/>
                    <a:lumOff val="80000"/>
                  </a:schemeClr>
                </a:solidFill>
              </a:rPr>
              <a:t>Feteasc</a:t>
            </a:r>
            <a:r>
              <a:rPr lang="ro-RO" sz="1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ă</a:t>
            </a:r>
            <a:r>
              <a:rPr lang="en-US" sz="1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Alb</a:t>
            </a:r>
            <a:r>
              <a:rPr lang="ro-RO" sz="1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ă</a:t>
            </a:r>
            <a:r>
              <a:rPr lang="en-US" sz="1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, Cr</a:t>
            </a:r>
            <a:r>
              <a:rPr lang="ro-RO" sz="1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â</a:t>
            </a:r>
            <a:r>
              <a:rPr lang="en-US" sz="1800" dirty="0" err="1">
                <a:solidFill>
                  <a:schemeClr val="accent4">
                    <a:lumMod val="20000"/>
                    <a:lumOff val="80000"/>
                  </a:schemeClr>
                </a:solidFill>
              </a:rPr>
              <a:t>mpo</a:t>
            </a:r>
            <a:r>
              <a:rPr lang="ro-RO" sz="1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ș</a:t>
            </a:r>
            <a:r>
              <a:rPr lang="en-US" sz="1800" dirty="0" err="1">
                <a:solidFill>
                  <a:schemeClr val="accent4">
                    <a:lumMod val="20000"/>
                    <a:lumOff val="80000"/>
                  </a:schemeClr>
                </a:solidFill>
              </a:rPr>
              <a:t>ie</a:t>
            </a:r>
            <a:r>
              <a:rPr lang="en-US" sz="1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, </a:t>
            </a:r>
            <a:r>
              <a:rPr lang="en-US" sz="1800" dirty="0" err="1">
                <a:solidFill>
                  <a:schemeClr val="accent4">
                    <a:lumMod val="20000"/>
                    <a:lumOff val="80000"/>
                  </a:schemeClr>
                </a:solidFill>
              </a:rPr>
              <a:t>Zghihar</a:t>
            </a:r>
            <a:r>
              <a:rPr lang="ro-RO" sz="1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ă</a:t>
            </a:r>
            <a:r>
              <a:rPr lang="en-US" sz="1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de Hu</a:t>
            </a:r>
            <a:r>
              <a:rPr lang="ro-RO" sz="1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ș</a:t>
            </a:r>
            <a:r>
              <a:rPr lang="en-US" sz="1800" dirty="0" err="1">
                <a:solidFill>
                  <a:schemeClr val="accent4">
                    <a:lumMod val="20000"/>
                    <a:lumOff val="80000"/>
                  </a:schemeClr>
                </a:solidFill>
              </a:rPr>
              <a:t>i</a:t>
            </a:r>
            <a:r>
              <a:rPr lang="en-US" sz="1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, T</a:t>
            </a:r>
            <a:r>
              <a:rPr lang="ro-RO" sz="1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ă</a:t>
            </a:r>
            <a:r>
              <a:rPr lang="en-US" sz="1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m</a:t>
            </a:r>
            <a:r>
              <a:rPr lang="ro-RO" sz="1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â</a:t>
            </a:r>
            <a:r>
              <a:rPr lang="en-US" sz="1800" dirty="0" err="1">
                <a:solidFill>
                  <a:schemeClr val="accent4">
                    <a:lumMod val="20000"/>
                    <a:lumOff val="80000"/>
                  </a:schemeClr>
                </a:solidFill>
              </a:rPr>
              <a:t>ioas</a:t>
            </a:r>
            <a:r>
              <a:rPr lang="ro-RO" sz="1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ă</a:t>
            </a:r>
            <a:r>
              <a:rPr lang="en-US" sz="1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Rom</a:t>
            </a:r>
            <a:r>
              <a:rPr lang="ro-RO" sz="1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â</a:t>
            </a:r>
            <a:r>
              <a:rPr lang="en-US" sz="1800" dirty="0" err="1">
                <a:solidFill>
                  <a:schemeClr val="accent4">
                    <a:lumMod val="20000"/>
                    <a:lumOff val="80000"/>
                  </a:schemeClr>
                </a:solidFill>
              </a:rPr>
              <a:t>neasc</a:t>
            </a:r>
            <a:r>
              <a:rPr lang="ro-RO" sz="1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ă</a:t>
            </a:r>
            <a:r>
              <a:rPr lang="en-US" sz="1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, </a:t>
            </a:r>
            <a:r>
              <a:rPr lang="ro-RO" sz="1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Ș</a:t>
            </a:r>
            <a:r>
              <a:rPr lang="en-US" sz="1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arb</a:t>
            </a:r>
            <a:r>
              <a:rPr lang="ro-RO" sz="1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ă</a:t>
            </a:r>
            <a:r>
              <a:rPr lang="en-US" sz="1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, </a:t>
            </a:r>
            <a:r>
              <a:rPr lang="en-US" sz="1800" dirty="0" err="1">
                <a:solidFill>
                  <a:schemeClr val="accent4">
                    <a:lumMod val="20000"/>
                    <a:lumOff val="80000"/>
                  </a:schemeClr>
                </a:solidFill>
              </a:rPr>
              <a:t>Feteasc</a:t>
            </a:r>
            <a:r>
              <a:rPr lang="ro-RO" sz="1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ă</a:t>
            </a:r>
            <a:r>
              <a:rPr lang="en-US" sz="1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accent4">
                    <a:lumMod val="20000"/>
                    <a:lumOff val="80000"/>
                  </a:schemeClr>
                </a:solidFill>
              </a:rPr>
              <a:t>Neagr</a:t>
            </a:r>
            <a:r>
              <a:rPr lang="ro-RO" sz="1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ă</a:t>
            </a:r>
            <a:r>
              <a:rPr lang="en-US" sz="1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, B</a:t>
            </a:r>
            <a:r>
              <a:rPr lang="ro-RO" sz="1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ă</a:t>
            </a:r>
            <a:r>
              <a:rPr lang="en-US" sz="1800" dirty="0" err="1">
                <a:solidFill>
                  <a:schemeClr val="accent4">
                    <a:lumMod val="20000"/>
                    <a:lumOff val="80000"/>
                  </a:schemeClr>
                </a:solidFill>
              </a:rPr>
              <a:t>beasc</a:t>
            </a:r>
            <a:r>
              <a:rPr lang="ro-RO" sz="1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ă</a:t>
            </a:r>
            <a:r>
              <a:rPr lang="en-US" sz="1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accent4">
                    <a:lumMod val="20000"/>
                    <a:lumOff val="80000"/>
                  </a:schemeClr>
                </a:solidFill>
              </a:rPr>
              <a:t>Neagr</a:t>
            </a:r>
            <a:r>
              <a:rPr lang="ro-RO" sz="1800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ă, Băbească Gri</a:t>
            </a:r>
            <a:endParaRPr lang="en-US" sz="18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18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 err="1">
                <a:solidFill>
                  <a:schemeClr val="accent4">
                    <a:lumMod val="20000"/>
                    <a:lumOff val="80000"/>
                  </a:schemeClr>
                </a:solidFill>
              </a:rPr>
              <a:t>Soiuri</a:t>
            </a:r>
            <a:r>
              <a:rPr lang="en-US" sz="1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accent4">
                    <a:lumMod val="20000"/>
                    <a:lumOff val="80000"/>
                  </a:schemeClr>
                </a:solidFill>
              </a:rPr>
              <a:t>interna</a:t>
            </a:r>
            <a:r>
              <a:rPr lang="ro-RO" sz="1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ț</a:t>
            </a:r>
            <a:r>
              <a:rPr lang="en-US" sz="1800" dirty="0" err="1">
                <a:solidFill>
                  <a:schemeClr val="accent4">
                    <a:lumMod val="20000"/>
                    <a:lumOff val="80000"/>
                  </a:schemeClr>
                </a:solidFill>
              </a:rPr>
              <a:t>ionale</a:t>
            </a:r>
            <a:r>
              <a:rPr lang="en-US" sz="1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BIO: Chardonnay, Sauvignon Blanc, Muscat </a:t>
            </a:r>
            <a:r>
              <a:rPr lang="en-US" sz="1800" dirty="0" err="1">
                <a:solidFill>
                  <a:schemeClr val="accent4">
                    <a:lumMod val="20000"/>
                    <a:lumOff val="80000"/>
                  </a:schemeClr>
                </a:solidFill>
              </a:rPr>
              <a:t>Ottonel</a:t>
            </a:r>
            <a:r>
              <a:rPr lang="en-US" sz="1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, Riesling, Cabernet Sauvignon, Merlot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8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18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>
              <a:lnSpc>
                <a:spcPct val="100000"/>
              </a:lnSpc>
            </a:pPr>
            <a:endParaRPr lang="ro-RO" sz="18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08487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554527F-91AC-4CCA-B4B9-E5A7E2707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857" y="330702"/>
            <a:ext cx="7245843" cy="1149151"/>
          </a:xfrm>
        </p:spPr>
        <p:txBody>
          <a:bodyPr>
            <a:normAutofit/>
          </a:bodyPr>
          <a:lstStyle/>
          <a:p>
            <a:pPr algn="r"/>
            <a:r>
              <a:rPr lang="ro-RO" sz="2800" dirty="0">
                <a:latin typeface="+mn-lt"/>
              </a:rPr>
              <a:t>ETICHETE ÎN PORTOFOLIUL ACTUAL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15CC027D-01B9-4D3E-B654-ACFEDF6AB0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6431" y="1803808"/>
            <a:ext cx="4385569" cy="3607131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478373BE-2826-4644-BE78-DBF672B8EAF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2000" y="1803808"/>
            <a:ext cx="4385570" cy="36071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6D77F508-6D41-49D5-A71B-ADEF80E17C57}"/>
              </a:ext>
            </a:extLst>
          </p:cNvPr>
          <p:cNvSpPr txBox="1"/>
          <p:nvPr/>
        </p:nvSpPr>
        <p:spPr>
          <a:xfrm>
            <a:off x="541538" y="5810292"/>
            <a:ext cx="59214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SERIA </a:t>
            </a:r>
            <a:r>
              <a:rPr lang="en-GB" sz="2400" b="1" i="1" dirty="0"/>
              <a:t>INIMA</a:t>
            </a:r>
            <a:endParaRPr lang="ro-RO" sz="2400" b="1" dirty="0"/>
          </a:p>
        </p:txBody>
      </p:sp>
    </p:spTree>
    <p:extLst>
      <p:ext uri="{BB962C8B-B14F-4D97-AF65-F5344CB8AC3E}">
        <p14:creationId xmlns:p14="http://schemas.microsoft.com/office/powerpoint/2010/main" val="31408259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FC281BAE-0D96-47CA-B2A0-84B656409FB7}"/>
              </a:ext>
            </a:extLst>
          </p:cNvPr>
          <p:cNvSpPr txBox="1"/>
          <p:nvPr/>
        </p:nvSpPr>
        <p:spPr>
          <a:xfrm>
            <a:off x="1073106" y="5530787"/>
            <a:ext cx="22993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SERIA </a:t>
            </a:r>
          </a:p>
          <a:p>
            <a:r>
              <a:rPr lang="en-GB" sz="2400" b="1" i="1" dirty="0"/>
              <a:t>OMNIA</a:t>
            </a:r>
            <a:endParaRPr lang="ro-RO" sz="2400" b="1" i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9EDD90FF-154E-450C-9B3D-BC794625742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70129" y="1450992"/>
            <a:ext cx="6573871" cy="540700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xmlns="" id="{9554527F-91AC-4CCA-B4B9-E5A7E2707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2483" y="344971"/>
            <a:ext cx="7245843" cy="1149151"/>
          </a:xfrm>
        </p:spPr>
        <p:txBody>
          <a:bodyPr>
            <a:normAutofit/>
          </a:bodyPr>
          <a:lstStyle/>
          <a:p>
            <a:pPr algn="r"/>
            <a:r>
              <a:rPr lang="ro-RO" sz="2800" dirty="0">
                <a:latin typeface="+mn-lt"/>
              </a:rPr>
              <a:t>ETICHETE ÎN PORTOFOLIUL ACTUAL</a:t>
            </a:r>
          </a:p>
        </p:txBody>
      </p:sp>
    </p:spTree>
    <p:extLst>
      <p:ext uri="{BB962C8B-B14F-4D97-AF65-F5344CB8AC3E}">
        <p14:creationId xmlns:p14="http://schemas.microsoft.com/office/powerpoint/2010/main" val="16337497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FADDD180-D0BD-459B-A065-48D28ACBCA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1577049"/>
            <a:ext cx="6427433" cy="528656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770305A8-96B0-4266-802A-E247B5AE240D}"/>
              </a:ext>
            </a:extLst>
          </p:cNvPr>
          <p:cNvSpPr txBox="1"/>
          <p:nvPr/>
        </p:nvSpPr>
        <p:spPr>
          <a:xfrm>
            <a:off x="6924583" y="5637320"/>
            <a:ext cx="19946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SERIA </a:t>
            </a:r>
            <a:r>
              <a:rPr lang="en-GB" sz="2400" b="1" i="1" dirty="0"/>
              <a:t>HEREDITAS</a:t>
            </a:r>
            <a:endParaRPr lang="ro-RO" sz="24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9554527F-91AC-4CCA-B4B9-E5A7E2707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2483" y="344971"/>
            <a:ext cx="7245843" cy="1149151"/>
          </a:xfrm>
        </p:spPr>
        <p:txBody>
          <a:bodyPr>
            <a:normAutofit/>
          </a:bodyPr>
          <a:lstStyle/>
          <a:p>
            <a:pPr algn="r"/>
            <a:r>
              <a:rPr lang="ro-RO" sz="2800" dirty="0">
                <a:latin typeface="+mn-lt"/>
              </a:rPr>
              <a:t>ETICHETE ÎN PORTOFOLIUL ACTUAL</a:t>
            </a:r>
          </a:p>
        </p:txBody>
      </p:sp>
    </p:spTree>
    <p:extLst>
      <p:ext uri="{BB962C8B-B14F-4D97-AF65-F5344CB8AC3E}">
        <p14:creationId xmlns:p14="http://schemas.microsoft.com/office/powerpoint/2010/main" val="41377479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1513D435-96DA-4837-A0E7-4DD88FB0AA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1514906"/>
            <a:ext cx="6496161" cy="5343093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51D5870C-88ED-4089-AE86-1EFB5A472131}"/>
              </a:ext>
            </a:extLst>
          </p:cNvPr>
          <p:cNvSpPr txBox="1"/>
          <p:nvPr/>
        </p:nvSpPr>
        <p:spPr>
          <a:xfrm>
            <a:off x="7359589" y="3329126"/>
            <a:ext cx="17844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SERIA </a:t>
            </a:r>
            <a:r>
              <a:rPr lang="en-GB" sz="2400" b="1" i="1" dirty="0"/>
              <a:t>KOSON</a:t>
            </a:r>
            <a:endParaRPr lang="ro-RO" sz="24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9554527F-91AC-4CCA-B4B9-E5A7E2707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2483" y="344971"/>
            <a:ext cx="7245843" cy="1149151"/>
          </a:xfrm>
        </p:spPr>
        <p:txBody>
          <a:bodyPr>
            <a:normAutofit/>
          </a:bodyPr>
          <a:lstStyle/>
          <a:p>
            <a:pPr algn="r"/>
            <a:r>
              <a:rPr lang="ro-RO" sz="2800" dirty="0">
                <a:latin typeface="+mn-lt"/>
              </a:rPr>
              <a:t>ETICHETE ÎN PORTOFOLIUL ACTUAL</a:t>
            </a:r>
          </a:p>
        </p:txBody>
      </p:sp>
    </p:spTree>
    <p:extLst>
      <p:ext uri="{BB962C8B-B14F-4D97-AF65-F5344CB8AC3E}">
        <p14:creationId xmlns:p14="http://schemas.microsoft.com/office/powerpoint/2010/main" val="26553674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4B035D20-3C54-40F9-AFC1-EA1C93EC3A20}"/>
              </a:ext>
            </a:extLst>
          </p:cNvPr>
          <p:cNvSpPr txBox="1"/>
          <p:nvPr/>
        </p:nvSpPr>
        <p:spPr>
          <a:xfrm>
            <a:off x="7102134" y="5770485"/>
            <a:ext cx="32758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400" dirty="0"/>
              <a:t>SERIA </a:t>
            </a:r>
            <a:r>
              <a:rPr lang="ro-RO" sz="2400" b="1" i="1" dirty="0"/>
              <a:t>GRUI</a:t>
            </a:r>
            <a:endParaRPr lang="ro-RO" sz="2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2677BD51-7EB4-4090-B2CA-7185F6574AF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499860"/>
            <a:ext cx="6514456" cy="535814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xmlns="" id="{9554527F-91AC-4CCA-B4B9-E5A7E2707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2483" y="344971"/>
            <a:ext cx="7245843" cy="1149151"/>
          </a:xfrm>
        </p:spPr>
        <p:txBody>
          <a:bodyPr>
            <a:normAutofit/>
          </a:bodyPr>
          <a:lstStyle/>
          <a:p>
            <a:pPr algn="r"/>
            <a:r>
              <a:rPr lang="ro-RO" sz="2800" dirty="0">
                <a:latin typeface="+mn-lt"/>
              </a:rPr>
              <a:t>ETICHETE ÎN PORTOFOLIUL ACTUAL</a:t>
            </a:r>
          </a:p>
        </p:txBody>
      </p:sp>
    </p:spTree>
    <p:extLst>
      <p:ext uri="{BB962C8B-B14F-4D97-AF65-F5344CB8AC3E}">
        <p14:creationId xmlns:p14="http://schemas.microsoft.com/office/powerpoint/2010/main" val="12550405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4B035D20-3C54-40F9-AFC1-EA1C93EC3A20}"/>
              </a:ext>
            </a:extLst>
          </p:cNvPr>
          <p:cNvSpPr txBox="1"/>
          <p:nvPr/>
        </p:nvSpPr>
        <p:spPr>
          <a:xfrm>
            <a:off x="3600873" y="5889165"/>
            <a:ext cx="32758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400" dirty="0"/>
              <a:t>SERIA </a:t>
            </a:r>
            <a:r>
              <a:rPr lang="ro-RO" sz="2400" b="1" i="1" dirty="0"/>
              <a:t>GLIA	</a:t>
            </a:r>
            <a:endParaRPr lang="ro-RO" sz="24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xmlns="" id="{554AA8E3-DE6D-43DE-A309-72B2B3E48D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561190"/>
            <a:ext cx="4539158" cy="3845311"/>
          </a:xfr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99A69596-FD20-4564-86F0-1FA283F4512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39158" y="1561190"/>
            <a:ext cx="4675151" cy="384531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xmlns="" id="{9554527F-91AC-4CCA-B4B9-E5A7E2707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2483" y="344971"/>
            <a:ext cx="7245843" cy="1149151"/>
          </a:xfrm>
        </p:spPr>
        <p:txBody>
          <a:bodyPr>
            <a:normAutofit/>
          </a:bodyPr>
          <a:lstStyle/>
          <a:p>
            <a:pPr algn="r"/>
            <a:r>
              <a:rPr lang="ro-RO" sz="2800" dirty="0">
                <a:latin typeface="+mn-lt"/>
              </a:rPr>
              <a:t>ETICHETE ÎN PORTOFOLIUL ACTUAL</a:t>
            </a:r>
          </a:p>
        </p:txBody>
      </p:sp>
    </p:spTree>
    <p:extLst>
      <p:ext uri="{BB962C8B-B14F-4D97-AF65-F5344CB8AC3E}">
        <p14:creationId xmlns:p14="http://schemas.microsoft.com/office/powerpoint/2010/main" val="7573134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2CAE9439-4199-4916-80A4-072FDFFC61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99167" y="1557524"/>
            <a:ext cx="6444833" cy="530087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8FFBAF39-31C0-4D6E-9586-E6830990DD0E}"/>
              </a:ext>
            </a:extLst>
          </p:cNvPr>
          <p:cNvSpPr txBox="1"/>
          <p:nvPr/>
        </p:nvSpPr>
        <p:spPr>
          <a:xfrm>
            <a:off x="399495" y="5397623"/>
            <a:ext cx="19086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400" dirty="0"/>
              <a:t>SERIA </a:t>
            </a:r>
            <a:r>
              <a:rPr lang="ro-RO" sz="2400" b="1" i="1" dirty="0"/>
              <a:t>VINURI DE POVESTE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9554527F-91AC-4CCA-B4B9-E5A7E2707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2483" y="344971"/>
            <a:ext cx="7245843" cy="1149151"/>
          </a:xfrm>
        </p:spPr>
        <p:txBody>
          <a:bodyPr>
            <a:normAutofit/>
          </a:bodyPr>
          <a:lstStyle/>
          <a:p>
            <a:pPr algn="r"/>
            <a:r>
              <a:rPr lang="ro-RO" sz="2800" dirty="0">
                <a:latin typeface="+mn-lt"/>
              </a:rPr>
              <a:t>ETICHETE ÎN PORTOFOLIUL ACTUAL</a:t>
            </a:r>
          </a:p>
        </p:txBody>
      </p:sp>
    </p:spTree>
    <p:extLst>
      <p:ext uri="{BB962C8B-B14F-4D97-AF65-F5344CB8AC3E}">
        <p14:creationId xmlns:p14="http://schemas.microsoft.com/office/powerpoint/2010/main" val="6134126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BFDFC6EC-975F-4D78-B377-A30C5C2716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577050"/>
            <a:ext cx="6143348" cy="533857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4135F1C7-A3DB-443E-9940-23A5B87C1321}"/>
              </a:ext>
            </a:extLst>
          </p:cNvPr>
          <p:cNvSpPr txBox="1"/>
          <p:nvPr/>
        </p:nvSpPr>
        <p:spPr>
          <a:xfrm>
            <a:off x="6587231" y="5513033"/>
            <a:ext cx="21927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400" b="1" i="1" dirty="0"/>
              <a:t>PRIVATE RESERVE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9554527F-91AC-4CCA-B4B9-E5A7E2707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2483" y="344971"/>
            <a:ext cx="7245843" cy="1149151"/>
          </a:xfrm>
        </p:spPr>
        <p:txBody>
          <a:bodyPr>
            <a:normAutofit/>
          </a:bodyPr>
          <a:lstStyle/>
          <a:p>
            <a:pPr algn="r"/>
            <a:r>
              <a:rPr lang="ro-RO" sz="2800" dirty="0">
                <a:latin typeface="+mn-lt"/>
              </a:rPr>
              <a:t>ETICHETE ÎN PORTOFOLIUL ACTUAL</a:t>
            </a:r>
          </a:p>
        </p:txBody>
      </p:sp>
    </p:spTree>
    <p:extLst>
      <p:ext uri="{BB962C8B-B14F-4D97-AF65-F5344CB8AC3E}">
        <p14:creationId xmlns:p14="http://schemas.microsoft.com/office/powerpoint/2010/main" val="20028633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A4D9F79-2F7B-4DB0-ABB3-9DC1E2181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6268" y="4002362"/>
            <a:ext cx="4732035" cy="1325563"/>
          </a:xfrm>
        </p:spPr>
        <p:txBody>
          <a:bodyPr/>
          <a:lstStyle/>
          <a:p>
            <a:pPr algn="ctr"/>
            <a:r>
              <a:rPr lang="ro-RO" dirty="0">
                <a:solidFill>
                  <a:schemeClr val="accent4">
                    <a:lumMod val="20000"/>
                    <a:lumOff val="80000"/>
                  </a:schemeClr>
                </a:solidFill>
                <a:latin typeface="+mn-lt"/>
              </a:rPr>
              <a:t>VĂ MULȚUMIM!</a:t>
            </a:r>
          </a:p>
        </p:txBody>
      </p:sp>
    </p:spTree>
    <p:extLst>
      <p:ext uri="{BB962C8B-B14F-4D97-AF65-F5344CB8AC3E}">
        <p14:creationId xmlns:p14="http://schemas.microsoft.com/office/powerpoint/2010/main" val="5309096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293</TotalTime>
  <Words>672</Words>
  <Application>Microsoft Macintosh PowerPoint</Application>
  <PresentationFormat>On-screen Show (4:3)</PresentationFormat>
  <Paragraphs>124</Paragraphs>
  <Slides>27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 Theme</vt:lpstr>
      <vt:lpstr>PowerPoint Presentation</vt:lpstr>
      <vt:lpstr>  </vt:lpstr>
      <vt:lpstr> </vt:lpstr>
      <vt:lpstr>INFORMAȚII GENERALE</vt:lpstr>
      <vt:lpstr>BIO de Romania</vt:lpstr>
      <vt:lpstr>De ce apa Alcalina BIO</vt:lpstr>
      <vt:lpstr>Exploatarea capacitatilor existente</vt:lpstr>
      <vt:lpstr>BRANDING</vt:lpstr>
      <vt:lpstr>APA ALCALINĂ GEIA</vt:lpstr>
      <vt:lpstr>SUCUL DE CĂTINĂ ELIKSIR</vt:lpstr>
      <vt:lpstr>PROIECT GEIA:</vt:lpstr>
      <vt:lpstr>Proiect GEIA</vt:lpstr>
      <vt:lpstr>LINIE DE ÎMBUTELIERE</vt:lpstr>
      <vt:lpstr>STRATEGIE COMERCIALĂ</vt:lpstr>
      <vt:lpstr>PIAȚĂ ȘI TRENDURI</vt:lpstr>
      <vt:lpstr>PROIECTII FINANCIARE</vt:lpstr>
      <vt:lpstr>NECESAR DE INVESTITIE:</vt:lpstr>
      <vt:lpstr>CRAMA ȘI VINURILE</vt:lpstr>
      <vt:lpstr>ETICHETE ÎN PORTOFOLIUL ACTUAL</vt:lpstr>
      <vt:lpstr>ETICHETE ÎN PORTOFOLIUL ACTUAL</vt:lpstr>
      <vt:lpstr>ETICHETE ÎN PORTOFOLIUL ACTUAL</vt:lpstr>
      <vt:lpstr>ETICHETE ÎN PORTOFOLIUL ACTUAL</vt:lpstr>
      <vt:lpstr>ETICHETE ÎN PORTOFOLIUL ACTUAL</vt:lpstr>
      <vt:lpstr>ETICHETE ÎN PORTOFOLIUL ACTUAL</vt:lpstr>
      <vt:lpstr>ETICHETE ÎN PORTOFOLIUL ACTUAL</vt:lpstr>
      <vt:lpstr>ETICHETE ÎN PORTOFOLIUL ACTUAL</vt:lpstr>
      <vt:lpstr>VĂ MULȚUMIM!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Ruxandra</dc:creator>
  <cp:lastModifiedBy>Bogdan Lupu</cp:lastModifiedBy>
  <cp:revision>71</cp:revision>
  <dcterms:created xsi:type="dcterms:W3CDTF">2020-04-22T11:24:23Z</dcterms:created>
  <dcterms:modified xsi:type="dcterms:W3CDTF">2020-04-29T13:23:21Z</dcterms:modified>
</cp:coreProperties>
</file>